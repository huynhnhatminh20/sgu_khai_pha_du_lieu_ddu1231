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0004"/>
            <a:ext cx="153162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004"/>
            <a:ext cx="403097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85780"/>
            <a:ext cx="4079240" cy="1468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3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292125"/>
            <a:ext cx="4483735" cy="800735"/>
            <a:chOff x="87743" y="292125"/>
            <a:chExt cx="4483735" cy="800735"/>
          </a:xfrm>
        </p:grpSpPr>
        <p:sp>
          <p:nvSpPr>
            <p:cNvPr id="3" name="object 3"/>
            <p:cNvSpPr/>
            <p:nvPr/>
          </p:nvSpPr>
          <p:spPr>
            <a:xfrm>
              <a:off x="87743" y="29212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2" y="4008"/>
                  </a:lnTo>
                  <a:lnTo>
                    <a:pt x="43817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355377"/>
              <a:ext cx="4432935" cy="737870"/>
            </a:xfrm>
            <a:custGeom>
              <a:avLst/>
              <a:gdLst/>
              <a:ahLst/>
              <a:cxnLst/>
              <a:rect l="l" t="t" r="r" b="b"/>
              <a:pathLst>
                <a:path w="4432935" h="737869">
                  <a:moveTo>
                    <a:pt x="4432566" y="0"/>
                  </a:moveTo>
                  <a:lnTo>
                    <a:pt x="0" y="0"/>
                  </a:lnTo>
                  <a:lnTo>
                    <a:pt x="0" y="737242"/>
                  </a:lnTo>
                  <a:lnTo>
                    <a:pt x="4432566" y="73724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336541"/>
              <a:ext cx="4432935" cy="705485"/>
            </a:xfrm>
            <a:custGeom>
              <a:avLst/>
              <a:gdLst/>
              <a:ahLst/>
              <a:cxnLst/>
              <a:rect l="l" t="t" r="r" b="b"/>
              <a:pathLst>
                <a:path w="4432935" h="705485">
                  <a:moveTo>
                    <a:pt x="4432567" y="0"/>
                  </a:moveTo>
                  <a:lnTo>
                    <a:pt x="0" y="0"/>
                  </a:lnTo>
                  <a:lnTo>
                    <a:pt x="0" y="654477"/>
                  </a:lnTo>
                  <a:lnTo>
                    <a:pt x="4008" y="674202"/>
                  </a:lnTo>
                  <a:lnTo>
                    <a:pt x="14922" y="690355"/>
                  </a:lnTo>
                  <a:lnTo>
                    <a:pt x="31075" y="701269"/>
                  </a:lnTo>
                  <a:lnTo>
                    <a:pt x="50800" y="705278"/>
                  </a:lnTo>
                  <a:lnTo>
                    <a:pt x="4381767" y="705278"/>
                  </a:lnTo>
                  <a:lnTo>
                    <a:pt x="4401492" y="701269"/>
                  </a:lnTo>
                  <a:lnTo>
                    <a:pt x="4417644" y="690355"/>
                  </a:lnTo>
                  <a:lnTo>
                    <a:pt x="4428558" y="674202"/>
                  </a:lnTo>
                  <a:lnTo>
                    <a:pt x="4432567" y="65447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355377"/>
            <a:ext cx="4432935" cy="73787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983615">
              <a:lnSpc>
                <a:spcPct val="100000"/>
              </a:lnSpc>
              <a:spcBef>
                <a:spcPts val="92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BÁO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CÁO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 KẾT QUẢ BÀI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TẬP</a:t>
            </a:r>
            <a:endParaRPr sz="1400">
              <a:latin typeface="Arial"/>
              <a:cs typeface="Arial"/>
            </a:endParaRPr>
          </a:p>
          <a:p>
            <a:pPr marL="96139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Phân</a:t>
            </a:r>
            <a:r>
              <a:rPr sz="110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loại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người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Tahoma"/>
                <a:cs typeface="Tahoma"/>
              </a:rPr>
              <a:t>sống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sót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trên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tàu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Titanic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4254" y="1275256"/>
            <a:ext cx="2459990" cy="18535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50" dirty="0">
                <a:latin typeface="Tahoma"/>
                <a:cs typeface="Tahoma"/>
              </a:rPr>
              <a:t>Giảng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viên</a:t>
            </a:r>
            <a:r>
              <a:rPr sz="1100" b="1" spc="25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hướng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dẫn:</a:t>
            </a:r>
            <a:r>
              <a:rPr sz="1100" b="1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TS.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Đỗ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Như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Tài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sz="1100" b="1" spc="-40" dirty="0">
                <a:latin typeface="Tahoma"/>
                <a:cs typeface="Tahoma"/>
              </a:rPr>
              <a:t>Sinh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viên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thực</a:t>
            </a:r>
            <a:r>
              <a:rPr sz="1100" b="1" spc="-10" dirty="0">
                <a:latin typeface="Tahoma"/>
                <a:cs typeface="Tahoma"/>
              </a:rPr>
              <a:t> hiện:</a:t>
            </a:r>
            <a:endParaRPr sz="1100">
              <a:latin typeface="Tahoma"/>
              <a:cs typeface="Tahoma"/>
            </a:endParaRPr>
          </a:p>
          <a:p>
            <a:pPr marL="702945" marR="695325" indent="-635" algn="ctr">
              <a:lnSpc>
                <a:spcPct val="102600"/>
              </a:lnSpc>
              <a:spcBef>
                <a:spcPts val="330"/>
              </a:spcBef>
            </a:pPr>
            <a:r>
              <a:rPr sz="1100" spc="-10" dirty="0">
                <a:latin typeface="Tahoma"/>
                <a:cs typeface="Tahoma"/>
              </a:rPr>
              <a:t>Trần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Đình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Hải Huỳnh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Nhật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Minh </a:t>
            </a:r>
            <a:r>
              <a:rPr sz="1100" dirty="0">
                <a:latin typeface="Tahoma"/>
                <a:cs typeface="Tahoma"/>
              </a:rPr>
              <a:t>Lê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Thành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Nhân </a:t>
            </a:r>
            <a:r>
              <a:rPr sz="1100" spc="-10" dirty="0">
                <a:latin typeface="Tahoma"/>
                <a:cs typeface="Tahoma"/>
              </a:rPr>
              <a:t>Trần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Công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Minh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spc="-25" dirty="0">
                <a:latin typeface="Arial"/>
                <a:cs typeface="Arial"/>
              </a:rPr>
              <a:t>Trường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Đại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học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Sài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Gòn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100" spc="-25" dirty="0">
                <a:latin typeface="Tahoma"/>
                <a:cs typeface="Tahoma"/>
              </a:rPr>
              <a:t>Ngày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26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tháng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10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năm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2025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Presentation</a:t>
            </a:r>
            <a:r>
              <a:rPr spc="5" dirty="0"/>
              <a:t> </a:t>
            </a:r>
            <a:r>
              <a:rPr spc="-6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31" y="1147826"/>
            <a:ext cx="159931" cy="1599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331" y="1711439"/>
            <a:ext cx="159931" cy="1599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30" y="1119592"/>
            <a:ext cx="2218690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8435" indent="-165735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Font typeface="Arial"/>
              <a:buAutoNum type="arabicPlain"/>
              <a:tabLst>
                <a:tab pos="178435" algn="l"/>
              </a:tabLst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Định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nghĩa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vấn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đề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Clr>
                <a:srgbClr val="EAEAF7"/>
              </a:buClr>
              <a:buFont typeface="Arial"/>
              <a:buAutoNum type="arabicPlain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Clr>
                <a:srgbClr val="EAEAF7"/>
              </a:buClr>
              <a:buFont typeface="Arial"/>
              <a:buAutoNum type="arabicPlain"/>
            </a:pPr>
            <a:endParaRPr sz="1100">
              <a:latin typeface="Tahoma"/>
              <a:cs typeface="Tahoma"/>
            </a:endParaRPr>
          </a:p>
          <a:p>
            <a:pPr marL="178435" indent="-165735">
              <a:lnSpc>
                <a:spcPct val="100000"/>
              </a:lnSpc>
              <a:buClr>
                <a:srgbClr val="EAEAF7"/>
              </a:buClr>
              <a:buSzPct val="72727"/>
              <a:buFont typeface="Arial"/>
              <a:buAutoNum type="arabicPlain"/>
              <a:tabLst>
                <a:tab pos="178435" algn="l"/>
              </a:tabLst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Phân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tích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dữ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liệu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khám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phá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-</a:t>
            </a:r>
            <a:r>
              <a:rPr sz="1100" spc="-4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5" action="ppaction://hlinksldjump"/>
              </a:rPr>
              <a:t>EDA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331" y="2275040"/>
            <a:ext cx="159931" cy="15993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9730" y="227427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008" y="2246819"/>
            <a:ext cx="2096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Chuẩn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bị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dữ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liệu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và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xử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lý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3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đặc</a:t>
            </a:r>
            <a:r>
              <a:rPr sz="1100" spc="-50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trưng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13855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Định</a:t>
            </a:r>
            <a:r>
              <a:rPr spc="-50" dirty="0"/>
              <a:t> </a:t>
            </a:r>
            <a:r>
              <a:rPr spc="-45" dirty="0"/>
              <a:t>nghĩa</a:t>
            </a:r>
            <a:r>
              <a:rPr spc="-50" dirty="0"/>
              <a:t> </a:t>
            </a:r>
            <a:r>
              <a:rPr spc="-30" dirty="0"/>
              <a:t>vấn</a:t>
            </a:r>
            <a:r>
              <a:rPr spc="-50" dirty="0"/>
              <a:t> </a:t>
            </a:r>
            <a:r>
              <a:rPr spc="-60" dirty="0"/>
              <a:t>đề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03972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6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/>
              <a:t>Mục</a:t>
            </a:r>
            <a:r>
              <a:rPr sz="1100" spc="-75" dirty="0"/>
              <a:t> </a:t>
            </a:r>
            <a:r>
              <a:rPr sz="1100" spc="-30" dirty="0"/>
              <a:t>tiêu:</a:t>
            </a:r>
            <a:r>
              <a:rPr sz="1100" spc="-35" dirty="0"/>
              <a:t> </a:t>
            </a:r>
            <a:r>
              <a:rPr sz="1100" dirty="0"/>
              <a:t>Dự</a:t>
            </a:r>
            <a:r>
              <a:rPr sz="1100" spc="-40" dirty="0"/>
              <a:t> </a:t>
            </a:r>
            <a:r>
              <a:rPr sz="1100" spc="-50" dirty="0"/>
              <a:t>đoán</a:t>
            </a:r>
            <a:r>
              <a:rPr sz="1100" spc="-35" dirty="0"/>
              <a:t> </a:t>
            </a:r>
            <a:r>
              <a:rPr sz="1100" spc="-50" dirty="0"/>
              <a:t>hành</a:t>
            </a:r>
            <a:r>
              <a:rPr sz="1100" spc="-40" dirty="0"/>
              <a:t> khách</a:t>
            </a:r>
            <a:r>
              <a:rPr sz="1100" spc="-35" dirty="0"/>
              <a:t> </a:t>
            </a:r>
            <a:r>
              <a:rPr sz="1100" b="1" spc="-85" dirty="0">
                <a:latin typeface="Tahoma"/>
                <a:cs typeface="Tahoma"/>
              </a:rPr>
              <a:t>sống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sót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hay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spc="-90" dirty="0">
                <a:latin typeface="Tahoma"/>
                <a:cs typeface="Tahoma"/>
              </a:rPr>
              <a:t>không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spc="-20" dirty="0"/>
              <a:t>trên</a:t>
            </a:r>
            <a:r>
              <a:rPr sz="1100" spc="-35" dirty="0"/>
              <a:t> </a:t>
            </a:r>
            <a:r>
              <a:rPr sz="1100" dirty="0"/>
              <a:t>tàu</a:t>
            </a:r>
            <a:r>
              <a:rPr sz="1100" spc="-40" dirty="0"/>
              <a:t> </a:t>
            </a:r>
            <a:r>
              <a:rPr sz="1100" spc="-10" dirty="0"/>
              <a:t>Titanic.</a:t>
            </a:r>
            <a:endParaRPr sz="1100">
              <a:latin typeface="Tahoma"/>
              <a:cs typeface="Tahoma"/>
            </a:endParaRPr>
          </a:p>
          <a:p>
            <a:pPr marL="12700" marR="390525">
              <a:lnSpc>
                <a:spcPct val="102600"/>
              </a:lnSpc>
              <a:spcBef>
                <a:spcPts val="300"/>
              </a:spcBef>
            </a:pPr>
            <a:r>
              <a:rPr sz="1100" b="1" spc="-70" dirty="0">
                <a:latin typeface="Tahoma"/>
                <a:cs typeface="Tahoma"/>
              </a:rPr>
              <a:t>train.csv</a:t>
            </a:r>
            <a:r>
              <a:rPr sz="1100" spc="-70" dirty="0"/>
              <a:t>:</a:t>
            </a:r>
            <a:r>
              <a:rPr sz="1100" spc="-10" dirty="0"/>
              <a:t> </a:t>
            </a:r>
            <a:r>
              <a:rPr sz="1100" spc="-45" dirty="0"/>
              <a:t>chứa</a:t>
            </a:r>
            <a:r>
              <a:rPr sz="1100" spc="-10" dirty="0"/>
              <a:t> </a:t>
            </a:r>
            <a:r>
              <a:rPr sz="1100" spc="-35" dirty="0"/>
              <a:t>đặc</a:t>
            </a:r>
            <a:r>
              <a:rPr sz="1100" spc="-10" dirty="0"/>
              <a:t> </a:t>
            </a:r>
            <a:r>
              <a:rPr sz="1100" spc="-45" dirty="0"/>
              <a:t>điểm</a:t>
            </a:r>
            <a:r>
              <a:rPr sz="1100" spc="-10" dirty="0"/>
              <a:t> </a:t>
            </a:r>
            <a:r>
              <a:rPr sz="1100" spc="-45" dirty="0"/>
              <a:t>hành</a:t>
            </a:r>
            <a:r>
              <a:rPr sz="1100" spc="-10" dirty="0"/>
              <a:t> </a:t>
            </a:r>
            <a:r>
              <a:rPr sz="1100" spc="-25" dirty="0"/>
              <a:t>khách</a:t>
            </a:r>
            <a:r>
              <a:rPr sz="1100" spc="-10" dirty="0"/>
              <a:t> </a:t>
            </a:r>
            <a:r>
              <a:rPr sz="1100" dirty="0"/>
              <a:t>và</a:t>
            </a:r>
            <a:r>
              <a:rPr sz="1100" spc="-10" dirty="0"/>
              <a:t> </a:t>
            </a:r>
            <a:r>
              <a:rPr sz="1100" spc="-45" dirty="0"/>
              <a:t>nhãn</a:t>
            </a:r>
            <a:r>
              <a:rPr sz="1100" spc="-5" dirty="0"/>
              <a:t> </a:t>
            </a:r>
            <a:r>
              <a:rPr sz="1100" dirty="0">
                <a:latin typeface="Palatino Linotype"/>
                <a:cs typeface="Palatino Linotype"/>
              </a:rPr>
              <a:t>Survived</a:t>
            </a:r>
            <a:r>
              <a:rPr sz="1100" spc="254" dirty="0">
                <a:latin typeface="Palatino Linotype"/>
                <a:cs typeface="Palatino Linotype"/>
              </a:rPr>
              <a:t> </a:t>
            </a:r>
            <a:r>
              <a:rPr sz="1100" spc="110" dirty="0">
                <a:latin typeface="Palatino Linotype"/>
                <a:cs typeface="Palatino Linotype"/>
              </a:rPr>
              <a:t>(0</a:t>
            </a:r>
            <a:r>
              <a:rPr sz="1100" spc="260" dirty="0">
                <a:latin typeface="Palatino Linotype"/>
                <a:cs typeface="Palatino Linotype"/>
              </a:rPr>
              <a:t> </a:t>
            </a:r>
            <a:r>
              <a:rPr sz="1100" spc="-50" dirty="0">
                <a:latin typeface="Palatino Linotype"/>
                <a:cs typeface="Palatino Linotype"/>
              </a:rPr>
              <a:t>= </a:t>
            </a:r>
            <a:r>
              <a:rPr sz="1100" dirty="0">
                <a:latin typeface="Palatino Linotype"/>
                <a:cs typeface="Palatino Linotype"/>
              </a:rPr>
              <a:t>Không,</a:t>
            </a:r>
            <a:r>
              <a:rPr sz="1100" spc="2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1</a:t>
            </a:r>
            <a:r>
              <a:rPr sz="1100" spc="260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Palatino Linotype"/>
                <a:cs typeface="Palatino Linotype"/>
              </a:rPr>
              <a:t>=</a:t>
            </a:r>
            <a:r>
              <a:rPr sz="1100" spc="265" dirty="0">
                <a:latin typeface="Palatino Linotype"/>
                <a:cs typeface="Palatino Linotype"/>
              </a:rPr>
              <a:t> </a:t>
            </a:r>
            <a:r>
              <a:rPr sz="1100" spc="-20" dirty="0">
                <a:latin typeface="Palatino Linotype"/>
                <a:cs typeface="Palatino Linotype"/>
              </a:rPr>
              <a:t>Có)</a:t>
            </a:r>
            <a:r>
              <a:rPr sz="1100" spc="-20" dirty="0"/>
              <a:t>.</a:t>
            </a:r>
            <a:endParaRPr sz="1100">
              <a:latin typeface="Palatino Linotype"/>
              <a:cs typeface="Palatino Linotype"/>
            </a:endParaRPr>
          </a:p>
          <a:p>
            <a:pPr marL="12700" marR="325120">
              <a:lnSpc>
                <a:spcPct val="125299"/>
              </a:lnSpc>
            </a:pPr>
            <a:r>
              <a:rPr sz="1100" b="1" spc="-70" dirty="0">
                <a:latin typeface="Tahoma"/>
                <a:cs typeface="Tahoma"/>
              </a:rPr>
              <a:t>test.csv</a:t>
            </a:r>
            <a:r>
              <a:rPr sz="1100" spc="-70" dirty="0"/>
              <a:t>:</a:t>
            </a:r>
            <a:r>
              <a:rPr sz="1100" spc="-20" dirty="0"/>
              <a:t> </a:t>
            </a:r>
            <a:r>
              <a:rPr sz="1100" spc="-45" dirty="0"/>
              <a:t>chứa</a:t>
            </a:r>
            <a:r>
              <a:rPr sz="1100" spc="-40" dirty="0"/>
              <a:t> </a:t>
            </a:r>
            <a:r>
              <a:rPr sz="1100" spc="-10" dirty="0"/>
              <a:t>các</a:t>
            </a:r>
            <a:r>
              <a:rPr sz="1100" spc="-80" dirty="0"/>
              <a:t> </a:t>
            </a:r>
            <a:r>
              <a:rPr sz="1100" spc="-25" dirty="0"/>
              <a:t>đặc</a:t>
            </a:r>
            <a:r>
              <a:rPr sz="1100" spc="-45" dirty="0"/>
              <a:t> điểm </a:t>
            </a:r>
            <a:r>
              <a:rPr sz="1100" spc="-40" dirty="0"/>
              <a:t>tương</a:t>
            </a:r>
            <a:r>
              <a:rPr sz="1100" spc="-45" dirty="0"/>
              <a:t> </a:t>
            </a:r>
            <a:r>
              <a:rPr sz="1100" dirty="0"/>
              <a:t>tự,</a:t>
            </a:r>
            <a:r>
              <a:rPr sz="1100" spc="-45" dirty="0"/>
              <a:t> </a:t>
            </a:r>
            <a:r>
              <a:rPr sz="1100" b="1" spc="-80" dirty="0">
                <a:latin typeface="Tahoma"/>
                <a:cs typeface="Tahoma"/>
              </a:rPr>
              <a:t>không</a:t>
            </a:r>
            <a:r>
              <a:rPr sz="1100" b="1" spc="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có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cột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Survived</a:t>
            </a:r>
            <a:r>
              <a:rPr sz="1100" spc="-65" dirty="0"/>
              <a:t>. </a:t>
            </a:r>
            <a:r>
              <a:rPr sz="1100" dirty="0"/>
              <a:t>Dữ</a:t>
            </a:r>
            <a:r>
              <a:rPr sz="1100" spc="-75" dirty="0"/>
              <a:t> </a:t>
            </a:r>
            <a:r>
              <a:rPr sz="1100" spc="-10" dirty="0"/>
              <a:t>liệu</a:t>
            </a:r>
            <a:r>
              <a:rPr sz="1100" spc="-45" dirty="0"/>
              <a:t> dùng </a:t>
            </a:r>
            <a:r>
              <a:rPr sz="1100" spc="-55" dirty="0"/>
              <a:t>để</a:t>
            </a:r>
            <a:r>
              <a:rPr sz="1100" spc="-30" dirty="0"/>
              <a:t> </a:t>
            </a:r>
            <a:r>
              <a:rPr sz="1100" spc="-45" dirty="0"/>
              <a:t>huấn </a:t>
            </a:r>
            <a:r>
              <a:rPr sz="1100" spc="-50" dirty="0"/>
              <a:t>luyện</a:t>
            </a:r>
            <a:r>
              <a:rPr sz="1100" spc="-35" dirty="0"/>
              <a:t> </a:t>
            </a:r>
            <a:r>
              <a:rPr sz="1100" dirty="0"/>
              <a:t>và</a:t>
            </a:r>
            <a:r>
              <a:rPr sz="1100" spc="-50" dirty="0"/>
              <a:t> </a:t>
            </a:r>
            <a:r>
              <a:rPr sz="1100" spc="-20" dirty="0"/>
              <a:t>kiểm</a:t>
            </a:r>
            <a:r>
              <a:rPr sz="1100" spc="-45" dirty="0"/>
              <a:t> </a:t>
            </a:r>
            <a:r>
              <a:rPr sz="1100" dirty="0"/>
              <a:t>tra</a:t>
            </a:r>
            <a:r>
              <a:rPr sz="1100" spc="-45" dirty="0"/>
              <a:t> </a:t>
            </a:r>
            <a:r>
              <a:rPr sz="1100" spc="-20" dirty="0"/>
              <a:t>mô</a:t>
            </a:r>
            <a:r>
              <a:rPr sz="1100" spc="-45" dirty="0"/>
              <a:t> </a:t>
            </a:r>
            <a:r>
              <a:rPr sz="1100" spc="-20" dirty="0"/>
              <a:t>hình</a:t>
            </a:r>
            <a:r>
              <a:rPr sz="1100" spc="-45" dirty="0"/>
              <a:t> </a:t>
            </a:r>
            <a:r>
              <a:rPr sz="1100" spc="-10" dirty="0"/>
              <a:t>học</a:t>
            </a:r>
            <a:r>
              <a:rPr sz="1100" spc="-45" dirty="0"/>
              <a:t> </a:t>
            </a:r>
            <a:r>
              <a:rPr sz="1100" spc="-20" dirty="0"/>
              <a:t>máy.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1400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896122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106155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Đặc</a:t>
            </a:r>
            <a:r>
              <a:rPr spc="-55" dirty="0"/>
              <a:t> </a:t>
            </a:r>
            <a:r>
              <a:rPr spc="-20" dirty="0"/>
              <a:t>trưng</a:t>
            </a:r>
            <a:r>
              <a:rPr spc="-50" dirty="0"/>
              <a:t> </a:t>
            </a:r>
            <a:r>
              <a:rPr spc="-40" dirty="0"/>
              <a:t>đầu</a:t>
            </a:r>
            <a:r>
              <a:rPr spc="-50" dirty="0"/>
              <a:t> </a:t>
            </a:r>
            <a:r>
              <a:rPr spc="-45" dirty="0"/>
              <a:t>vào</a:t>
            </a:r>
            <a:r>
              <a:rPr spc="-50" dirty="0"/>
              <a:t> </a:t>
            </a:r>
            <a:r>
              <a:rPr spc="-10" dirty="0"/>
              <a:t>và</a:t>
            </a:r>
            <a:r>
              <a:rPr spc="-50" dirty="0"/>
              <a:t> </a:t>
            </a:r>
            <a:r>
              <a:rPr spc="-40" dirty="0"/>
              <a:t>đầu</a:t>
            </a:r>
            <a:r>
              <a:rPr spc="-50" dirty="0"/>
              <a:t> </a:t>
            </a:r>
            <a:r>
              <a:rPr spc="-25" dirty="0"/>
              <a:t>ra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623506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96212"/>
            <a:ext cx="2458085" cy="2125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9015">
              <a:lnSpc>
                <a:spcPct val="125299"/>
              </a:lnSpc>
              <a:spcBef>
                <a:spcPts val="100"/>
              </a:spcBef>
            </a:pPr>
            <a:r>
              <a:rPr sz="1100" b="1" spc="-60" dirty="0">
                <a:latin typeface="Tahoma"/>
                <a:cs typeface="Tahoma"/>
              </a:rPr>
              <a:t>Pclass</a:t>
            </a:r>
            <a:r>
              <a:rPr sz="1100" spc="-60" dirty="0">
                <a:latin typeface="Tahoma"/>
                <a:cs typeface="Tahoma"/>
              </a:rPr>
              <a:t>: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Hạng</a:t>
            </a:r>
            <a:r>
              <a:rPr sz="1100" spc="-50" dirty="0">
                <a:latin typeface="Tahoma"/>
                <a:cs typeface="Tahoma"/>
              </a:rPr>
              <a:t> vé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(1–3) </a:t>
            </a:r>
            <a:r>
              <a:rPr sz="1100" b="1" spc="-70" dirty="0">
                <a:latin typeface="Tahoma"/>
                <a:cs typeface="Tahoma"/>
              </a:rPr>
              <a:t>Name</a:t>
            </a:r>
            <a:r>
              <a:rPr sz="1100" spc="-70" dirty="0">
                <a:latin typeface="Tahoma"/>
                <a:cs typeface="Tahoma"/>
              </a:rPr>
              <a:t>: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Tên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hành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khách </a:t>
            </a:r>
            <a:r>
              <a:rPr sz="1100" b="1" spc="-85" dirty="0">
                <a:latin typeface="Tahoma"/>
                <a:cs typeface="Tahoma"/>
              </a:rPr>
              <a:t>Sex</a:t>
            </a:r>
            <a:r>
              <a:rPr sz="1100" spc="-85" dirty="0">
                <a:latin typeface="Tahoma"/>
                <a:cs typeface="Tahoma"/>
              </a:rPr>
              <a:t>: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Giới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tính</a:t>
            </a:r>
            <a:r>
              <a:rPr sz="1100" spc="-30" dirty="0">
                <a:latin typeface="Tahoma"/>
                <a:cs typeface="Tahoma"/>
              </a:rPr>
              <a:t> (nam/nữ) </a:t>
            </a:r>
            <a:r>
              <a:rPr sz="1100" b="1" spc="-50" dirty="0">
                <a:latin typeface="Tahoma"/>
                <a:cs typeface="Tahoma"/>
              </a:rPr>
              <a:t>Age</a:t>
            </a:r>
            <a:r>
              <a:rPr sz="1100" spc="-50" dirty="0">
                <a:latin typeface="Tahoma"/>
                <a:cs typeface="Tahoma"/>
              </a:rPr>
              <a:t>: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Tuổi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(năm)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sz="1100" b="1" spc="-65" dirty="0">
                <a:latin typeface="Tahoma"/>
                <a:cs typeface="Tahoma"/>
              </a:rPr>
              <a:t>SibSp</a:t>
            </a:r>
            <a:r>
              <a:rPr sz="1100" spc="-65" dirty="0">
                <a:latin typeface="Tahoma"/>
                <a:cs typeface="Tahoma"/>
              </a:rPr>
              <a:t>: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Số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chị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30" dirty="0">
                <a:latin typeface="Tahoma"/>
                <a:cs typeface="Tahoma"/>
              </a:rPr>
              <a:t> vợ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chồng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cùng </a:t>
            </a:r>
            <a:r>
              <a:rPr sz="1100" b="1" spc="-70" dirty="0">
                <a:latin typeface="Tahoma"/>
                <a:cs typeface="Tahoma"/>
              </a:rPr>
              <a:t>Parch</a:t>
            </a:r>
            <a:r>
              <a:rPr sz="1100" spc="-70" dirty="0">
                <a:latin typeface="Tahoma"/>
                <a:cs typeface="Tahoma"/>
              </a:rPr>
              <a:t>: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Số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cha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mẹ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cái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cùng </a:t>
            </a:r>
            <a:r>
              <a:rPr sz="1100" b="1" spc="-40" dirty="0">
                <a:latin typeface="Tahoma"/>
                <a:cs typeface="Tahoma"/>
              </a:rPr>
              <a:t>Ticket</a:t>
            </a:r>
            <a:r>
              <a:rPr sz="1100" spc="-40" dirty="0">
                <a:latin typeface="Tahoma"/>
                <a:cs typeface="Tahoma"/>
              </a:rPr>
              <a:t>: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Số</a:t>
            </a:r>
            <a:r>
              <a:rPr sz="1100" spc="-35" dirty="0">
                <a:latin typeface="Tahoma"/>
                <a:cs typeface="Tahoma"/>
              </a:rPr>
              <a:t> vé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75" dirty="0">
                <a:latin typeface="Tahoma"/>
                <a:cs typeface="Tahoma"/>
              </a:rPr>
              <a:t>Fare</a:t>
            </a:r>
            <a:r>
              <a:rPr sz="1100" spc="-75" dirty="0">
                <a:latin typeface="Tahoma"/>
                <a:cs typeface="Tahoma"/>
              </a:rPr>
              <a:t>: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Giá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vé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(bảng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Anh)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65" dirty="0">
                <a:latin typeface="Tahoma"/>
                <a:cs typeface="Tahoma"/>
              </a:rPr>
              <a:t>Cabin</a:t>
            </a:r>
            <a:r>
              <a:rPr sz="1100" spc="-65" dirty="0">
                <a:latin typeface="Tahoma"/>
                <a:cs typeface="Tahoma"/>
              </a:rPr>
              <a:t>: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Mã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phòng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hoặc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khoang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tàu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spc="-90" dirty="0">
                <a:latin typeface="Tahoma"/>
                <a:cs typeface="Tahoma"/>
              </a:rPr>
              <a:t>Embarked</a:t>
            </a:r>
            <a:r>
              <a:rPr sz="1100" spc="-90" dirty="0">
                <a:latin typeface="Tahoma"/>
                <a:cs typeface="Tahoma"/>
              </a:rPr>
              <a:t>: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Cảng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lên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tàu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(C/Q/S)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833539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043571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253604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463636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1673669"/>
            <a:ext cx="65201" cy="6520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1883702"/>
            <a:ext cx="65201" cy="6520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165" y="2093734"/>
            <a:ext cx="65201" cy="6520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165" y="2303767"/>
            <a:ext cx="65201" cy="652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81165" y="2513799"/>
            <a:ext cx="65201" cy="6520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38520" y="2666746"/>
            <a:ext cx="1254760" cy="594360"/>
            <a:chOff x="138520" y="2666746"/>
            <a:chExt cx="1254760" cy="594360"/>
          </a:xfrm>
        </p:grpSpPr>
        <p:sp>
          <p:nvSpPr>
            <p:cNvPr id="15" name="object 15"/>
            <p:cNvSpPr/>
            <p:nvPr/>
          </p:nvSpPr>
          <p:spPr>
            <a:xfrm>
              <a:off x="143600" y="2671826"/>
              <a:ext cx="1244600" cy="584200"/>
            </a:xfrm>
            <a:custGeom>
              <a:avLst/>
              <a:gdLst/>
              <a:ahLst/>
              <a:cxnLst/>
              <a:rect l="l" t="t" r="r" b="b"/>
              <a:pathLst>
                <a:path w="1244600" h="584200">
                  <a:moveTo>
                    <a:pt x="119375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33589"/>
                  </a:lnTo>
                  <a:lnTo>
                    <a:pt x="3977" y="553289"/>
                  </a:lnTo>
                  <a:lnTo>
                    <a:pt x="14823" y="569376"/>
                  </a:lnTo>
                  <a:lnTo>
                    <a:pt x="30910" y="580222"/>
                  </a:lnTo>
                  <a:lnTo>
                    <a:pt x="50610" y="584200"/>
                  </a:lnTo>
                  <a:lnTo>
                    <a:pt x="1193758" y="584200"/>
                  </a:lnTo>
                  <a:lnTo>
                    <a:pt x="1213458" y="580222"/>
                  </a:lnTo>
                  <a:lnTo>
                    <a:pt x="1229545" y="569376"/>
                  </a:lnTo>
                  <a:lnTo>
                    <a:pt x="1240391" y="553289"/>
                  </a:lnTo>
                  <a:lnTo>
                    <a:pt x="1244368" y="533589"/>
                  </a:lnTo>
                  <a:lnTo>
                    <a:pt x="1244368" y="50610"/>
                  </a:lnTo>
                  <a:lnTo>
                    <a:pt x="1240391" y="30910"/>
                  </a:lnTo>
                  <a:lnTo>
                    <a:pt x="1229545" y="14823"/>
                  </a:lnTo>
                  <a:lnTo>
                    <a:pt x="1213458" y="3977"/>
                  </a:lnTo>
                  <a:lnTo>
                    <a:pt x="1193758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3600" y="2671826"/>
              <a:ext cx="1244600" cy="584200"/>
            </a:xfrm>
            <a:custGeom>
              <a:avLst/>
              <a:gdLst/>
              <a:ahLst/>
              <a:cxnLst/>
              <a:rect l="l" t="t" r="r" b="b"/>
              <a:pathLst>
                <a:path w="1244600" h="584200">
                  <a:moveTo>
                    <a:pt x="119375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533589"/>
                  </a:lnTo>
                  <a:lnTo>
                    <a:pt x="3977" y="553289"/>
                  </a:lnTo>
                  <a:lnTo>
                    <a:pt x="14823" y="569376"/>
                  </a:lnTo>
                  <a:lnTo>
                    <a:pt x="30910" y="580222"/>
                  </a:lnTo>
                  <a:lnTo>
                    <a:pt x="50610" y="584200"/>
                  </a:lnTo>
                  <a:lnTo>
                    <a:pt x="1193758" y="584200"/>
                  </a:lnTo>
                  <a:lnTo>
                    <a:pt x="1213458" y="580222"/>
                  </a:lnTo>
                  <a:lnTo>
                    <a:pt x="1229545" y="569376"/>
                  </a:lnTo>
                  <a:lnTo>
                    <a:pt x="1240391" y="553289"/>
                  </a:lnTo>
                  <a:lnTo>
                    <a:pt x="1244368" y="533589"/>
                  </a:lnTo>
                  <a:lnTo>
                    <a:pt x="1244368" y="50610"/>
                  </a:lnTo>
                  <a:lnTo>
                    <a:pt x="1240391" y="30910"/>
                  </a:lnTo>
                  <a:lnTo>
                    <a:pt x="1229545" y="14823"/>
                  </a:lnTo>
                  <a:lnTo>
                    <a:pt x="1213458" y="3977"/>
                  </a:lnTo>
                  <a:lnTo>
                    <a:pt x="1193758" y="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0649" y="2679812"/>
            <a:ext cx="123063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0185" marR="203200" algn="ctr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Đầu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vào </a:t>
            </a:r>
            <a:r>
              <a:rPr sz="1100" spc="-20" dirty="0">
                <a:latin typeface="Tahoma"/>
                <a:cs typeface="Tahoma"/>
              </a:rPr>
              <a:t>(Pclass,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Sex, </a:t>
            </a:r>
            <a:r>
              <a:rPr sz="1100" spc="-10" dirty="0">
                <a:latin typeface="Tahoma"/>
                <a:cs typeface="Tahoma"/>
              </a:rPr>
              <a:t>Age,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Fare,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...)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25015" y="2764146"/>
            <a:ext cx="1110615" cy="400050"/>
            <a:chOff x="1825015" y="2764146"/>
            <a:chExt cx="1110615" cy="400050"/>
          </a:xfrm>
        </p:grpSpPr>
        <p:sp>
          <p:nvSpPr>
            <p:cNvPr id="19" name="object 19"/>
            <p:cNvSpPr/>
            <p:nvPr/>
          </p:nvSpPr>
          <p:spPr>
            <a:xfrm>
              <a:off x="1830095" y="2769226"/>
              <a:ext cx="1100455" cy="389890"/>
            </a:xfrm>
            <a:custGeom>
              <a:avLst/>
              <a:gdLst/>
              <a:ahLst/>
              <a:cxnLst/>
              <a:rect l="l" t="t" r="r" b="b"/>
              <a:pathLst>
                <a:path w="1100455" h="389889">
                  <a:moveTo>
                    <a:pt x="104975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38789"/>
                  </a:lnTo>
                  <a:lnTo>
                    <a:pt x="3977" y="358489"/>
                  </a:lnTo>
                  <a:lnTo>
                    <a:pt x="14823" y="374576"/>
                  </a:lnTo>
                  <a:lnTo>
                    <a:pt x="30910" y="385422"/>
                  </a:lnTo>
                  <a:lnTo>
                    <a:pt x="50610" y="389399"/>
                  </a:lnTo>
                  <a:lnTo>
                    <a:pt x="1049756" y="389399"/>
                  </a:lnTo>
                  <a:lnTo>
                    <a:pt x="1069456" y="385422"/>
                  </a:lnTo>
                  <a:lnTo>
                    <a:pt x="1085543" y="374576"/>
                  </a:lnTo>
                  <a:lnTo>
                    <a:pt x="1096389" y="358489"/>
                  </a:lnTo>
                  <a:lnTo>
                    <a:pt x="1100366" y="338789"/>
                  </a:lnTo>
                  <a:lnTo>
                    <a:pt x="1100366" y="50610"/>
                  </a:lnTo>
                  <a:lnTo>
                    <a:pt x="1096389" y="30910"/>
                  </a:lnTo>
                  <a:lnTo>
                    <a:pt x="1085543" y="14823"/>
                  </a:lnTo>
                  <a:lnTo>
                    <a:pt x="1069456" y="3977"/>
                  </a:lnTo>
                  <a:lnTo>
                    <a:pt x="1049756" y="0"/>
                  </a:lnTo>
                  <a:close/>
                </a:path>
              </a:pathLst>
            </a:custGeom>
            <a:solidFill>
              <a:srgbClr val="E5E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30095" y="2769226"/>
              <a:ext cx="1100455" cy="389890"/>
            </a:xfrm>
            <a:custGeom>
              <a:avLst/>
              <a:gdLst/>
              <a:ahLst/>
              <a:cxnLst/>
              <a:rect l="l" t="t" r="r" b="b"/>
              <a:pathLst>
                <a:path w="1100455" h="389889">
                  <a:moveTo>
                    <a:pt x="104975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38789"/>
                  </a:lnTo>
                  <a:lnTo>
                    <a:pt x="3977" y="358489"/>
                  </a:lnTo>
                  <a:lnTo>
                    <a:pt x="14823" y="374576"/>
                  </a:lnTo>
                  <a:lnTo>
                    <a:pt x="30910" y="385422"/>
                  </a:lnTo>
                  <a:lnTo>
                    <a:pt x="50610" y="389399"/>
                  </a:lnTo>
                  <a:lnTo>
                    <a:pt x="1049756" y="389399"/>
                  </a:lnTo>
                  <a:lnTo>
                    <a:pt x="1069456" y="385422"/>
                  </a:lnTo>
                  <a:lnTo>
                    <a:pt x="1085543" y="374576"/>
                  </a:lnTo>
                  <a:lnTo>
                    <a:pt x="1096389" y="358489"/>
                  </a:lnTo>
                  <a:lnTo>
                    <a:pt x="1100366" y="338789"/>
                  </a:lnTo>
                  <a:lnTo>
                    <a:pt x="1100366" y="50610"/>
                  </a:lnTo>
                  <a:lnTo>
                    <a:pt x="1096389" y="30910"/>
                  </a:lnTo>
                  <a:lnTo>
                    <a:pt x="1085543" y="14823"/>
                  </a:lnTo>
                  <a:lnTo>
                    <a:pt x="1069456" y="3977"/>
                  </a:lnTo>
                  <a:lnTo>
                    <a:pt x="1049756" y="0"/>
                  </a:lnTo>
                  <a:close/>
                </a:path>
              </a:pathLst>
            </a:custGeom>
            <a:ln w="10122">
              <a:solidFill>
                <a:srgbClr val="7F7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837145" y="2760724"/>
            <a:ext cx="108648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8450" marR="290830" indent="1905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Mô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hình </a:t>
            </a:r>
            <a:r>
              <a:rPr sz="1100" spc="-10" dirty="0">
                <a:latin typeface="Tahoma"/>
                <a:cs typeface="Tahoma"/>
              </a:rPr>
              <a:t>học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máy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67506" y="2752784"/>
            <a:ext cx="1110615" cy="422909"/>
            <a:chOff x="3367506" y="2752784"/>
            <a:chExt cx="1110615" cy="422909"/>
          </a:xfrm>
        </p:grpSpPr>
        <p:sp>
          <p:nvSpPr>
            <p:cNvPr id="23" name="object 23"/>
            <p:cNvSpPr/>
            <p:nvPr/>
          </p:nvSpPr>
          <p:spPr>
            <a:xfrm>
              <a:off x="3372586" y="2757864"/>
              <a:ext cx="1100455" cy="412750"/>
            </a:xfrm>
            <a:custGeom>
              <a:avLst/>
              <a:gdLst/>
              <a:ahLst/>
              <a:cxnLst/>
              <a:rect l="l" t="t" r="r" b="b"/>
              <a:pathLst>
                <a:path w="1100454" h="412750">
                  <a:moveTo>
                    <a:pt x="1049756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361511"/>
                  </a:lnTo>
                  <a:lnTo>
                    <a:pt x="3976" y="381211"/>
                  </a:lnTo>
                  <a:lnTo>
                    <a:pt x="14822" y="397299"/>
                  </a:lnTo>
                  <a:lnTo>
                    <a:pt x="30909" y="408145"/>
                  </a:lnTo>
                  <a:lnTo>
                    <a:pt x="50609" y="412122"/>
                  </a:lnTo>
                  <a:lnTo>
                    <a:pt x="1049756" y="412122"/>
                  </a:lnTo>
                  <a:lnTo>
                    <a:pt x="1069456" y="408145"/>
                  </a:lnTo>
                  <a:lnTo>
                    <a:pt x="1085543" y="397299"/>
                  </a:lnTo>
                  <a:lnTo>
                    <a:pt x="1096389" y="381211"/>
                  </a:lnTo>
                  <a:lnTo>
                    <a:pt x="1100366" y="361511"/>
                  </a:lnTo>
                  <a:lnTo>
                    <a:pt x="1100366" y="50610"/>
                  </a:lnTo>
                  <a:lnTo>
                    <a:pt x="1096389" y="30910"/>
                  </a:lnTo>
                  <a:lnTo>
                    <a:pt x="1085543" y="14823"/>
                  </a:lnTo>
                  <a:lnTo>
                    <a:pt x="1069456" y="3977"/>
                  </a:lnTo>
                  <a:lnTo>
                    <a:pt x="1049756" y="0"/>
                  </a:lnTo>
                  <a:close/>
                </a:path>
              </a:pathLst>
            </a:custGeom>
            <a:solidFill>
              <a:srgbClr val="E5FF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72586" y="2757864"/>
              <a:ext cx="1100455" cy="412750"/>
            </a:xfrm>
            <a:custGeom>
              <a:avLst/>
              <a:gdLst/>
              <a:ahLst/>
              <a:cxnLst/>
              <a:rect l="l" t="t" r="r" b="b"/>
              <a:pathLst>
                <a:path w="1100454" h="412750">
                  <a:moveTo>
                    <a:pt x="1049756" y="0"/>
                  </a:moveTo>
                  <a:lnTo>
                    <a:pt x="50609" y="0"/>
                  </a:lnTo>
                  <a:lnTo>
                    <a:pt x="30909" y="3977"/>
                  </a:lnTo>
                  <a:lnTo>
                    <a:pt x="14822" y="14823"/>
                  </a:lnTo>
                  <a:lnTo>
                    <a:pt x="3976" y="30910"/>
                  </a:lnTo>
                  <a:lnTo>
                    <a:pt x="0" y="50610"/>
                  </a:lnTo>
                  <a:lnTo>
                    <a:pt x="0" y="361511"/>
                  </a:lnTo>
                  <a:lnTo>
                    <a:pt x="3976" y="381211"/>
                  </a:lnTo>
                  <a:lnTo>
                    <a:pt x="14822" y="397299"/>
                  </a:lnTo>
                  <a:lnTo>
                    <a:pt x="30909" y="408145"/>
                  </a:lnTo>
                  <a:lnTo>
                    <a:pt x="50609" y="412122"/>
                  </a:lnTo>
                  <a:lnTo>
                    <a:pt x="1049756" y="412122"/>
                  </a:lnTo>
                  <a:lnTo>
                    <a:pt x="1069456" y="408145"/>
                  </a:lnTo>
                  <a:lnTo>
                    <a:pt x="1085543" y="397299"/>
                  </a:lnTo>
                  <a:lnTo>
                    <a:pt x="1096389" y="381211"/>
                  </a:lnTo>
                  <a:lnTo>
                    <a:pt x="1100366" y="361511"/>
                  </a:lnTo>
                  <a:lnTo>
                    <a:pt x="1100366" y="50610"/>
                  </a:lnTo>
                  <a:lnTo>
                    <a:pt x="1096389" y="30910"/>
                  </a:lnTo>
                  <a:lnTo>
                    <a:pt x="1085543" y="14823"/>
                  </a:lnTo>
                  <a:lnTo>
                    <a:pt x="1069456" y="3977"/>
                  </a:lnTo>
                  <a:lnTo>
                    <a:pt x="1049756" y="0"/>
                  </a:lnTo>
                  <a:close/>
                </a:path>
              </a:pathLst>
            </a:custGeom>
            <a:ln w="10122">
              <a:solidFill>
                <a:srgbClr val="7FF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379635" y="2765855"/>
            <a:ext cx="108648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16839" marR="109220" indent="22606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Đầu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 </a:t>
            </a:r>
            <a:r>
              <a:rPr sz="1100" spc="-35" dirty="0">
                <a:latin typeface="Tahoma"/>
                <a:cs typeface="Tahoma"/>
              </a:rPr>
              <a:t>Survived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(0/1)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93029" y="2934571"/>
            <a:ext cx="1974850" cy="59055"/>
            <a:chOff x="1393029" y="2934571"/>
            <a:chExt cx="1974850" cy="59055"/>
          </a:xfrm>
        </p:grpSpPr>
        <p:sp>
          <p:nvSpPr>
            <p:cNvPr id="27" name="object 27"/>
            <p:cNvSpPr/>
            <p:nvPr/>
          </p:nvSpPr>
          <p:spPr>
            <a:xfrm>
              <a:off x="1393029" y="2963926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5">
                  <a:moveTo>
                    <a:pt x="0" y="0"/>
                  </a:moveTo>
                  <a:lnTo>
                    <a:pt x="395311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766325" y="2934571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5" h="59055">
                  <a:moveTo>
                    <a:pt x="0" y="0"/>
                  </a:moveTo>
                  <a:lnTo>
                    <a:pt x="22015" y="29354"/>
                  </a:lnTo>
                  <a:lnTo>
                    <a:pt x="0" y="58708"/>
                  </a:lnTo>
                  <a:lnTo>
                    <a:pt x="58708" y="29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935528" y="2963926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>
                  <a:moveTo>
                    <a:pt x="0" y="0"/>
                  </a:moveTo>
                  <a:lnTo>
                    <a:pt x="395312" y="0"/>
                  </a:lnTo>
                </a:path>
              </a:pathLst>
            </a:custGeom>
            <a:ln w="126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8826" y="2934571"/>
              <a:ext cx="59055" cy="59055"/>
            </a:xfrm>
            <a:custGeom>
              <a:avLst/>
              <a:gdLst/>
              <a:ahLst/>
              <a:cxnLst/>
              <a:rect l="l" t="t" r="r" b="b"/>
              <a:pathLst>
                <a:path w="59054" h="59055">
                  <a:moveTo>
                    <a:pt x="0" y="0"/>
                  </a:moveTo>
                  <a:lnTo>
                    <a:pt x="22015" y="29354"/>
                  </a:lnTo>
                  <a:lnTo>
                    <a:pt x="0" y="58708"/>
                  </a:lnTo>
                  <a:lnTo>
                    <a:pt x="58708" y="29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Tổng</a:t>
            </a:r>
            <a:r>
              <a:rPr spc="-75" dirty="0"/>
              <a:t> </a:t>
            </a:r>
            <a:r>
              <a:rPr spc="-45" dirty="0"/>
              <a:t>quan</a:t>
            </a:r>
            <a:r>
              <a:rPr spc="-30" dirty="0"/>
              <a:t> </a:t>
            </a:r>
            <a:r>
              <a:rPr spc="-10" dirty="0"/>
              <a:t>và</a:t>
            </a:r>
            <a:r>
              <a:rPr spc="-35" dirty="0"/>
              <a:t> </a:t>
            </a:r>
            <a:r>
              <a:rPr dirty="0"/>
              <a:t>tính</a:t>
            </a:r>
            <a:r>
              <a:rPr spc="-30" dirty="0"/>
              <a:t> </a:t>
            </a:r>
            <a:r>
              <a:rPr dirty="0"/>
              <a:t>toàn</a:t>
            </a:r>
            <a:r>
              <a:rPr spc="-35" dirty="0"/>
              <a:t> </a:t>
            </a:r>
            <a:r>
              <a:rPr spc="-55" dirty="0"/>
              <a:t>vẹn</a:t>
            </a:r>
            <a:r>
              <a:rPr spc="-30" dirty="0"/>
              <a:t> </a:t>
            </a:r>
            <a:r>
              <a:rPr spc="-105" dirty="0"/>
              <a:t>dữ</a:t>
            </a:r>
            <a:r>
              <a:rPr spc="5" dirty="0"/>
              <a:t> </a:t>
            </a:r>
            <a:r>
              <a:rPr spc="-20" dirty="0"/>
              <a:t>liệu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33513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55825">
              <a:lnSpc>
                <a:spcPct val="125299"/>
              </a:lnSpc>
              <a:spcBef>
                <a:spcPts val="100"/>
              </a:spcBef>
            </a:pPr>
            <a:r>
              <a:rPr sz="1100" dirty="0"/>
              <a:t>Tập</a:t>
            </a:r>
            <a:r>
              <a:rPr sz="1100" spc="-65" dirty="0"/>
              <a:t> </a:t>
            </a:r>
            <a:r>
              <a:rPr sz="1100" b="1" spc="-70" dirty="0">
                <a:latin typeface="Tahoma"/>
                <a:cs typeface="Tahoma"/>
              </a:rPr>
              <a:t>train.csv</a:t>
            </a:r>
            <a:r>
              <a:rPr sz="1100" spc="-70" dirty="0"/>
              <a:t>:</a:t>
            </a:r>
            <a:r>
              <a:rPr sz="1100" spc="-20" dirty="0"/>
              <a:t> </a:t>
            </a:r>
            <a:r>
              <a:rPr sz="1100" spc="-45" dirty="0"/>
              <a:t>891</a:t>
            </a:r>
            <a:r>
              <a:rPr sz="1100" spc="-40" dirty="0"/>
              <a:t> </a:t>
            </a:r>
            <a:r>
              <a:rPr sz="1100" spc="-45" dirty="0"/>
              <a:t>dòng,</a:t>
            </a:r>
            <a:r>
              <a:rPr sz="1100" spc="-40" dirty="0"/>
              <a:t> </a:t>
            </a:r>
            <a:r>
              <a:rPr sz="1100" spc="-20" dirty="0"/>
              <a:t>12</a:t>
            </a:r>
            <a:r>
              <a:rPr sz="1100" spc="-40" dirty="0"/>
              <a:t> </a:t>
            </a:r>
            <a:r>
              <a:rPr sz="1100" spc="-25" dirty="0"/>
              <a:t>cột </a:t>
            </a:r>
            <a:r>
              <a:rPr sz="1100" dirty="0"/>
              <a:t>Biến</a:t>
            </a:r>
            <a:r>
              <a:rPr sz="1100" spc="-55" dirty="0"/>
              <a:t> </a:t>
            </a:r>
            <a:r>
              <a:rPr sz="1100" spc="-50" dirty="0"/>
              <a:t>gồm</a:t>
            </a:r>
            <a:r>
              <a:rPr sz="1100" spc="-35" dirty="0"/>
              <a:t> </a:t>
            </a:r>
            <a:r>
              <a:rPr sz="1100" spc="-45" dirty="0"/>
              <a:t>dạng </a:t>
            </a:r>
            <a:r>
              <a:rPr sz="1100" spc="-30" dirty="0"/>
              <a:t>số</a:t>
            </a:r>
            <a:r>
              <a:rPr sz="1100" spc="-40" dirty="0"/>
              <a:t> </a:t>
            </a:r>
            <a:r>
              <a:rPr sz="1100" dirty="0"/>
              <a:t>và</a:t>
            </a:r>
            <a:r>
              <a:rPr sz="1100" spc="-45" dirty="0"/>
              <a:t> dạng </a:t>
            </a:r>
            <a:r>
              <a:rPr sz="1100" spc="-40" dirty="0"/>
              <a:t>chuỗi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/>
              <a:t>Thiếu</a:t>
            </a:r>
            <a:r>
              <a:rPr sz="1100" spc="-90" dirty="0"/>
              <a:t> </a:t>
            </a:r>
            <a:r>
              <a:rPr sz="1100" spc="-30" dirty="0"/>
              <a:t>dữ</a:t>
            </a:r>
            <a:r>
              <a:rPr sz="1100" spc="-55" dirty="0"/>
              <a:t> </a:t>
            </a:r>
            <a:r>
              <a:rPr sz="1100" spc="-10" dirty="0"/>
              <a:t>liệu</a:t>
            </a:r>
            <a:r>
              <a:rPr sz="1100" spc="-55" dirty="0"/>
              <a:t> </a:t>
            </a:r>
            <a:r>
              <a:rPr sz="1100" spc="-75" dirty="0"/>
              <a:t>ở:</a:t>
            </a:r>
            <a:r>
              <a:rPr sz="1100" spc="-15" dirty="0"/>
              <a:t> </a:t>
            </a:r>
            <a:r>
              <a:rPr sz="1100" spc="-75" dirty="0">
                <a:latin typeface="Palatino Linotype"/>
                <a:cs typeface="Palatino Linotype"/>
              </a:rPr>
              <a:t>Age</a:t>
            </a:r>
            <a:r>
              <a:rPr sz="1100" spc="-75" dirty="0"/>
              <a:t>,</a:t>
            </a:r>
            <a:r>
              <a:rPr sz="1100" spc="-10" dirty="0"/>
              <a:t> </a:t>
            </a:r>
            <a:r>
              <a:rPr sz="1100" dirty="0">
                <a:latin typeface="Palatino Linotype"/>
                <a:cs typeface="Palatino Linotype"/>
              </a:rPr>
              <a:t>Cabin</a:t>
            </a:r>
            <a:r>
              <a:rPr sz="1100" dirty="0"/>
              <a:t>,</a:t>
            </a:r>
            <a:r>
              <a:rPr sz="1100" spc="-45" dirty="0"/>
              <a:t> </a:t>
            </a:r>
            <a:r>
              <a:rPr sz="1100" spc="-10" dirty="0">
                <a:latin typeface="Palatino Linotype"/>
                <a:cs typeface="Palatino Linotype"/>
              </a:rPr>
              <a:t>Embarked</a:t>
            </a:r>
            <a:endParaRPr sz="1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30" dirty="0">
                <a:latin typeface="Tahoma"/>
                <a:cs typeface="Tahoma"/>
              </a:rPr>
              <a:t>Age: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spc="-45" dirty="0"/>
              <a:t>177</a:t>
            </a:r>
            <a:r>
              <a:rPr sz="1100" spc="-25" dirty="0"/>
              <a:t> </a:t>
            </a:r>
            <a:r>
              <a:rPr sz="1100" spc="-20" dirty="0"/>
              <a:t>thiếu</a:t>
            </a:r>
            <a:r>
              <a:rPr sz="1100" spc="-25" dirty="0"/>
              <a:t> </a:t>
            </a:r>
            <a:r>
              <a:rPr sz="1100" dirty="0"/>
              <a:t>(</a:t>
            </a:r>
            <a:r>
              <a:rPr sz="1100" spc="-30" dirty="0"/>
              <a:t> </a:t>
            </a:r>
            <a:r>
              <a:rPr sz="1100" spc="-65" dirty="0"/>
              <a:t>20%),</a:t>
            </a:r>
            <a:r>
              <a:rPr sz="1100" spc="-20" dirty="0"/>
              <a:t> </a:t>
            </a:r>
            <a:r>
              <a:rPr sz="1100" b="1" spc="-65" dirty="0">
                <a:latin typeface="Tahoma"/>
                <a:cs typeface="Tahoma"/>
              </a:rPr>
              <a:t>Cabin:</a:t>
            </a:r>
            <a:r>
              <a:rPr sz="1100" b="1" spc="-5" dirty="0">
                <a:latin typeface="Tahoma"/>
                <a:cs typeface="Tahoma"/>
              </a:rPr>
              <a:t> </a:t>
            </a:r>
            <a:r>
              <a:rPr sz="1100" spc="-45" dirty="0"/>
              <a:t>687</a:t>
            </a:r>
            <a:r>
              <a:rPr sz="1100" spc="-25" dirty="0"/>
              <a:t> </a:t>
            </a:r>
            <a:r>
              <a:rPr sz="1100" spc="-20" dirty="0"/>
              <a:t>thiếu</a:t>
            </a:r>
            <a:r>
              <a:rPr sz="1100" spc="-25" dirty="0"/>
              <a:t> </a:t>
            </a:r>
            <a:r>
              <a:rPr sz="1100" dirty="0"/>
              <a:t>(</a:t>
            </a:r>
            <a:r>
              <a:rPr sz="1100" spc="-25" dirty="0"/>
              <a:t> </a:t>
            </a:r>
            <a:r>
              <a:rPr sz="1100" spc="-65" dirty="0"/>
              <a:t>77%),</a:t>
            </a:r>
            <a:r>
              <a:rPr sz="1100" spc="-25" dirty="0"/>
              <a:t> </a:t>
            </a:r>
            <a:r>
              <a:rPr sz="1100" b="1" spc="-80" dirty="0">
                <a:latin typeface="Tahoma"/>
                <a:cs typeface="Tahoma"/>
              </a:rPr>
              <a:t>Embarked:</a:t>
            </a:r>
            <a:r>
              <a:rPr sz="1100" b="1" dirty="0">
                <a:latin typeface="Tahoma"/>
                <a:cs typeface="Tahoma"/>
              </a:rPr>
              <a:t> </a:t>
            </a:r>
            <a:r>
              <a:rPr sz="1100" dirty="0"/>
              <a:t>2</a:t>
            </a:r>
            <a:r>
              <a:rPr sz="1100" spc="-25" dirty="0"/>
              <a:t> </a:t>
            </a:r>
            <a:r>
              <a:rPr sz="1100" spc="-10" dirty="0"/>
              <a:t>thiếu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/>
              <a:t>(&lt;1%)</a:t>
            </a:r>
            <a:endParaRPr sz="1100"/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dirty="0"/>
              <a:t>Cột</a:t>
            </a:r>
            <a:r>
              <a:rPr sz="1100" spc="-35" dirty="0"/>
              <a:t> </a:t>
            </a:r>
            <a:r>
              <a:rPr sz="1100" spc="-30" dirty="0"/>
              <a:t>mục</a:t>
            </a:r>
            <a:r>
              <a:rPr sz="1100" spc="-35" dirty="0"/>
              <a:t> </a:t>
            </a:r>
            <a:r>
              <a:rPr sz="1100" spc="-25" dirty="0"/>
              <a:t>tiêu:</a:t>
            </a:r>
            <a:r>
              <a:rPr sz="1100" spc="-35" dirty="0"/>
              <a:t> </a:t>
            </a:r>
            <a:r>
              <a:rPr sz="1100" b="1" spc="-70" dirty="0">
                <a:latin typeface="Tahoma"/>
                <a:cs typeface="Tahoma"/>
              </a:rPr>
              <a:t>Survived</a:t>
            </a:r>
            <a:r>
              <a:rPr sz="1100" b="1" spc="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(0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=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Không,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1</a:t>
            </a:r>
            <a:r>
              <a:rPr sz="1100" b="1" spc="2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=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Có)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/>
              <a:t>Không</a:t>
            </a:r>
            <a:r>
              <a:rPr sz="1100" spc="-50" dirty="0"/>
              <a:t> </a:t>
            </a:r>
            <a:r>
              <a:rPr sz="1100" dirty="0"/>
              <a:t>có</a:t>
            </a:r>
            <a:r>
              <a:rPr sz="1100" spc="-50" dirty="0"/>
              <a:t> </a:t>
            </a:r>
            <a:r>
              <a:rPr sz="1100" spc="-35" dirty="0"/>
              <a:t>bản</a:t>
            </a:r>
            <a:r>
              <a:rPr sz="1100" spc="-50" dirty="0"/>
              <a:t> </a:t>
            </a:r>
            <a:r>
              <a:rPr sz="1100" spc="-10" dirty="0"/>
              <a:t>ghi</a:t>
            </a:r>
            <a:r>
              <a:rPr sz="1100" spc="-50" dirty="0"/>
              <a:t> </a:t>
            </a:r>
            <a:r>
              <a:rPr sz="1100" spc="-25" dirty="0"/>
              <a:t>trùng</a:t>
            </a:r>
            <a:r>
              <a:rPr sz="1100" spc="-50" dirty="0"/>
              <a:t> </a:t>
            </a:r>
            <a:r>
              <a:rPr sz="1100" dirty="0"/>
              <a:t>→</a:t>
            </a:r>
            <a:r>
              <a:rPr sz="1100" spc="-45" dirty="0"/>
              <a:t> </a:t>
            </a:r>
            <a:r>
              <a:rPr sz="1100" dirty="0"/>
              <a:t>Dữ</a:t>
            </a:r>
            <a:r>
              <a:rPr sz="1100" spc="-50" dirty="0"/>
              <a:t> </a:t>
            </a:r>
            <a:r>
              <a:rPr sz="1100" spc="-10" dirty="0"/>
              <a:t>liệu</a:t>
            </a:r>
            <a:r>
              <a:rPr sz="1100" spc="-50" dirty="0"/>
              <a:t> </a:t>
            </a:r>
            <a:r>
              <a:rPr sz="1100" spc="-35" dirty="0"/>
              <a:t>duy</a:t>
            </a:r>
            <a:r>
              <a:rPr sz="1100" spc="-50" dirty="0"/>
              <a:t> </a:t>
            </a:r>
            <a:r>
              <a:rPr sz="1100" spc="-10" dirty="0"/>
              <a:t>nhất</a:t>
            </a:r>
            <a:r>
              <a:rPr sz="1100" spc="-50" dirty="0"/>
              <a:t> </a:t>
            </a:r>
            <a:r>
              <a:rPr sz="1100" spc="-10" dirty="0"/>
              <a:t>(unique)</a:t>
            </a:r>
            <a:endParaRPr sz="11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4354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53578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763610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145715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355748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Thống</a:t>
            </a:r>
            <a:r>
              <a:rPr spc="-40" dirty="0"/>
              <a:t> </a:t>
            </a:r>
            <a:r>
              <a:rPr spc="-45" dirty="0"/>
              <a:t>kê</a:t>
            </a:r>
            <a:r>
              <a:rPr spc="-40" dirty="0"/>
              <a:t> </a:t>
            </a:r>
            <a:r>
              <a:rPr dirty="0"/>
              <a:t>mô</a:t>
            </a:r>
            <a:r>
              <a:rPr spc="-35" dirty="0"/>
              <a:t> </a:t>
            </a:r>
            <a:r>
              <a:rPr dirty="0"/>
              <a:t>tả</a:t>
            </a:r>
            <a:r>
              <a:rPr spc="-40" dirty="0"/>
              <a:t> </a:t>
            </a:r>
            <a:r>
              <a:rPr spc="-10" dirty="0"/>
              <a:t>và</a:t>
            </a:r>
            <a:r>
              <a:rPr spc="-35" dirty="0"/>
              <a:t> </a:t>
            </a:r>
            <a:r>
              <a:rPr spc="-30" dirty="0"/>
              <a:t>Phân</a:t>
            </a:r>
            <a:r>
              <a:rPr spc="-40" dirty="0"/>
              <a:t> </a:t>
            </a:r>
            <a:r>
              <a:rPr dirty="0"/>
              <a:t>bố</a:t>
            </a:r>
            <a:r>
              <a:rPr spc="-35" dirty="0"/>
              <a:t> biến</a:t>
            </a:r>
            <a:r>
              <a:rPr spc="-40" dirty="0"/>
              <a:t> </a:t>
            </a:r>
            <a:r>
              <a:rPr spc="-45" dirty="0"/>
              <a:t>phân</a:t>
            </a:r>
            <a:r>
              <a:rPr spc="-40" dirty="0"/>
              <a:t> </a:t>
            </a:r>
            <a:r>
              <a:rPr spc="-50" dirty="0"/>
              <a:t>lớp</a:t>
            </a:r>
            <a:r>
              <a:rPr spc="-35" dirty="0"/>
              <a:t> </a:t>
            </a:r>
            <a:r>
              <a:rPr spc="-20" dirty="0"/>
              <a:t>(Survived)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667715"/>
            <a:ext cx="65201" cy="65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839787"/>
            <a:ext cx="65201" cy="65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011859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35601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795945"/>
            <a:ext cx="65201" cy="652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844" y="393659"/>
            <a:ext cx="4179570" cy="151066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30" dirty="0">
                <a:latin typeface="Tahoma"/>
                <a:cs typeface="Tahoma"/>
              </a:rPr>
              <a:t>Thống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kê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mô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tả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các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biến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số: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85"/>
              </a:spcBef>
            </a:pPr>
            <a:r>
              <a:rPr sz="1100" b="1" spc="-50" dirty="0">
                <a:latin typeface="Tahoma"/>
                <a:cs typeface="Tahoma"/>
              </a:rPr>
              <a:t>Pclass: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bình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2.31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155" dirty="0">
                <a:latin typeface="Cambria"/>
                <a:cs typeface="Cambria"/>
              </a:rPr>
              <a:t>→</a:t>
            </a:r>
            <a:r>
              <a:rPr sz="1100" spc="70" dirty="0">
                <a:latin typeface="Cambria"/>
                <a:cs typeface="Cambria"/>
              </a:rPr>
              <a:t> </a:t>
            </a:r>
            <a:r>
              <a:rPr sz="1100" spc="-20" dirty="0">
                <a:latin typeface="Tahoma"/>
                <a:cs typeface="Tahoma"/>
              </a:rPr>
              <a:t>đa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số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hạng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2–3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b="1" spc="-35" dirty="0">
                <a:latin typeface="Tahoma"/>
                <a:cs typeface="Tahoma"/>
              </a:rPr>
              <a:t>Age:</a:t>
            </a:r>
            <a:r>
              <a:rPr sz="1100" b="1" spc="5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TB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≈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spc="-45" dirty="0">
                <a:latin typeface="Tahoma"/>
                <a:cs typeface="Tahoma"/>
              </a:rPr>
              <a:t>29.7,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lệch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chuẩn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≈</a:t>
            </a:r>
            <a:r>
              <a:rPr sz="1100" spc="90" dirty="0">
                <a:latin typeface="Cambria"/>
                <a:cs typeface="Cambria"/>
              </a:rPr>
              <a:t> </a:t>
            </a:r>
            <a:r>
              <a:rPr sz="1100" spc="-45" dirty="0">
                <a:latin typeface="Tahoma"/>
                <a:cs typeface="Tahoma"/>
              </a:rPr>
              <a:t>14.5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(0.42–80)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2699"/>
              </a:lnSpc>
            </a:pPr>
            <a:r>
              <a:rPr sz="1100" b="1" spc="-60" dirty="0">
                <a:latin typeface="Tahoma"/>
                <a:cs typeface="Tahoma"/>
              </a:rPr>
              <a:t>SibSp/Parch: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số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một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mình,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tối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8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chị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hoặc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6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cha </a:t>
            </a:r>
            <a:r>
              <a:rPr sz="1100" spc="-10" dirty="0">
                <a:latin typeface="Tahoma"/>
                <a:cs typeface="Tahoma"/>
              </a:rPr>
              <a:t>mẹ/con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b="1" spc="-65" dirty="0">
                <a:latin typeface="Tahoma"/>
                <a:cs typeface="Tahoma"/>
              </a:rPr>
              <a:t>Fare:</a:t>
            </a:r>
            <a:r>
              <a:rPr sz="1100" b="1" dirty="0">
                <a:latin typeface="Tahoma"/>
                <a:cs typeface="Tahoma"/>
              </a:rPr>
              <a:t> </a:t>
            </a:r>
            <a:r>
              <a:rPr sz="1100" spc="90" dirty="0">
                <a:latin typeface="Tahoma"/>
                <a:cs typeface="Tahoma"/>
              </a:rPr>
              <a:t>TB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≈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45" dirty="0">
                <a:latin typeface="Tahoma"/>
                <a:cs typeface="Tahoma"/>
              </a:rPr>
              <a:t>32.2,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lệch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chuẩn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229" dirty="0">
                <a:latin typeface="Cambria"/>
                <a:cs typeface="Cambria"/>
              </a:rPr>
              <a:t>≈</a:t>
            </a:r>
            <a:r>
              <a:rPr sz="1100" spc="85" dirty="0">
                <a:latin typeface="Cambria"/>
                <a:cs typeface="Cambria"/>
              </a:rPr>
              <a:t> </a:t>
            </a:r>
            <a:r>
              <a:rPr sz="1100" spc="-45" dirty="0">
                <a:latin typeface="Tahoma"/>
                <a:cs typeface="Tahoma"/>
              </a:rPr>
              <a:t>49.7,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</a:t>
            </a:r>
            <a:r>
              <a:rPr sz="1100" spc="-20" dirty="0">
                <a:latin typeface="Tahoma"/>
                <a:cs typeface="Tahoma"/>
              </a:rPr>
              <a:t> outlier </a:t>
            </a:r>
            <a:r>
              <a:rPr sz="1100" spc="-60" dirty="0">
                <a:latin typeface="Tahoma"/>
                <a:cs typeface="Tahoma"/>
              </a:rPr>
              <a:t>đến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512.33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100" b="1" spc="-35" dirty="0">
                <a:latin typeface="Tahoma"/>
                <a:cs typeface="Tahoma"/>
              </a:rPr>
              <a:t>Phân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bố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biến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phân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lớp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Palatino Linotype"/>
                <a:cs typeface="Palatino Linotype"/>
              </a:rPr>
              <a:t>Survived</a:t>
            </a:r>
            <a:r>
              <a:rPr sz="1100" b="1" spc="-1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85"/>
              </a:spcBef>
            </a:pPr>
            <a:r>
              <a:rPr sz="1100" dirty="0">
                <a:latin typeface="Tahoma"/>
                <a:cs typeface="Tahoma"/>
              </a:rPr>
              <a:t>Dữ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liệu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hơi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mất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cân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bằng</a:t>
            </a:r>
            <a:r>
              <a:rPr sz="1100" b="1" spc="-10" dirty="0">
                <a:latin typeface="Tahoma"/>
                <a:cs typeface="Tahoma"/>
              </a:rPr>
              <a:t> (imbalanced)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80944" y="2050995"/>
            <a:ext cx="1306195" cy="1101725"/>
            <a:chOff x="980944" y="2050995"/>
            <a:chExt cx="1306195" cy="1101725"/>
          </a:xfrm>
        </p:grpSpPr>
        <p:sp>
          <p:nvSpPr>
            <p:cNvPr id="10" name="object 10"/>
            <p:cNvSpPr/>
            <p:nvPr/>
          </p:nvSpPr>
          <p:spPr>
            <a:xfrm>
              <a:off x="986024" y="2056075"/>
              <a:ext cx="1296035" cy="1091565"/>
            </a:xfrm>
            <a:custGeom>
              <a:avLst/>
              <a:gdLst/>
              <a:ahLst/>
              <a:cxnLst/>
              <a:rect l="l" t="t" r="r" b="b"/>
              <a:pathLst>
                <a:path w="1296035" h="1091564">
                  <a:moveTo>
                    <a:pt x="648008" y="0"/>
                  </a:moveTo>
                  <a:lnTo>
                    <a:pt x="599646" y="1777"/>
                  </a:lnTo>
                  <a:lnTo>
                    <a:pt x="552249" y="7025"/>
                  </a:lnTo>
                  <a:lnTo>
                    <a:pt x="505943" y="15620"/>
                  </a:lnTo>
                  <a:lnTo>
                    <a:pt x="460853" y="27435"/>
                  </a:lnTo>
                  <a:lnTo>
                    <a:pt x="417104" y="42346"/>
                  </a:lnTo>
                  <a:lnTo>
                    <a:pt x="374822" y="60226"/>
                  </a:lnTo>
                  <a:lnTo>
                    <a:pt x="334132" y="80952"/>
                  </a:lnTo>
                  <a:lnTo>
                    <a:pt x="295159" y="104397"/>
                  </a:lnTo>
                  <a:lnTo>
                    <a:pt x="258028" y="130436"/>
                  </a:lnTo>
                  <a:lnTo>
                    <a:pt x="222865" y="158944"/>
                  </a:lnTo>
                  <a:lnTo>
                    <a:pt x="189795" y="189795"/>
                  </a:lnTo>
                  <a:lnTo>
                    <a:pt x="158944" y="222865"/>
                  </a:lnTo>
                  <a:lnTo>
                    <a:pt x="130436" y="258028"/>
                  </a:lnTo>
                  <a:lnTo>
                    <a:pt x="104397" y="295159"/>
                  </a:lnTo>
                  <a:lnTo>
                    <a:pt x="80952" y="334132"/>
                  </a:lnTo>
                  <a:lnTo>
                    <a:pt x="60226" y="374822"/>
                  </a:lnTo>
                  <a:lnTo>
                    <a:pt x="42346" y="417104"/>
                  </a:lnTo>
                  <a:lnTo>
                    <a:pt x="27435" y="460853"/>
                  </a:lnTo>
                  <a:lnTo>
                    <a:pt x="15620" y="505943"/>
                  </a:lnTo>
                  <a:lnTo>
                    <a:pt x="7025" y="552249"/>
                  </a:lnTo>
                  <a:lnTo>
                    <a:pt x="1777" y="599646"/>
                  </a:lnTo>
                  <a:lnTo>
                    <a:pt x="0" y="648008"/>
                  </a:lnTo>
                  <a:lnTo>
                    <a:pt x="1872" y="697226"/>
                  </a:lnTo>
                  <a:lnTo>
                    <a:pt x="7438" y="745883"/>
                  </a:lnTo>
                  <a:lnTo>
                    <a:pt x="16620" y="793783"/>
                  </a:lnTo>
                  <a:lnTo>
                    <a:pt x="29340" y="840732"/>
                  </a:lnTo>
                  <a:lnTo>
                    <a:pt x="45522" y="886536"/>
                  </a:lnTo>
                  <a:lnTo>
                    <a:pt x="65087" y="931000"/>
                  </a:lnTo>
                  <a:lnTo>
                    <a:pt x="87959" y="973930"/>
                  </a:lnTo>
                  <a:lnTo>
                    <a:pt x="114059" y="1015130"/>
                  </a:lnTo>
                  <a:lnTo>
                    <a:pt x="143311" y="1054407"/>
                  </a:lnTo>
                  <a:lnTo>
                    <a:pt x="175637" y="1091566"/>
                  </a:lnTo>
                  <a:lnTo>
                    <a:pt x="648008" y="648008"/>
                  </a:lnTo>
                  <a:lnTo>
                    <a:pt x="1296017" y="648008"/>
                  </a:lnTo>
                  <a:lnTo>
                    <a:pt x="1294239" y="599646"/>
                  </a:lnTo>
                  <a:lnTo>
                    <a:pt x="1288991" y="552249"/>
                  </a:lnTo>
                  <a:lnTo>
                    <a:pt x="1280396" y="505943"/>
                  </a:lnTo>
                  <a:lnTo>
                    <a:pt x="1268581" y="460853"/>
                  </a:lnTo>
                  <a:lnTo>
                    <a:pt x="1253671" y="417104"/>
                  </a:lnTo>
                  <a:lnTo>
                    <a:pt x="1235790" y="374822"/>
                  </a:lnTo>
                  <a:lnTo>
                    <a:pt x="1215065" y="334132"/>
                  </a:lnTo>
                  <a:lnTo>
                    <a:pt x="1191620" y="295159"/>
                  </a:lnTo>
                  <a:lnTo>
                    <a:pt x="1165581" y="258028"/>
                  </a:lnTo>
                  <a:lnTo>
                    <a:pt x="1137073" y="222865"/>
                  </a:lnTo>
                  <a:lnTo>
                    <a:pt x="1106221" y="189795"/>
                  </a:lnTo>
                  <a:lnTo>
                    <a:pt x="1073151" y="158944"/>
                  </a:lnTo>
                  <a:lnTo>
                    <a:pt x="1037988" y="130436"/>
                  </a:lnTo>
                  <a:lnTo>
                    <a:pt x="1000858" y="104397"/>
                  </a:lnTo>
                  <a:lnTo>
                    <a:pt x="961884" y="80952"/>
                  </a:lnTo>
                  <a:lnTo>
                    <a:pt x="921194" y="60226"/>
                  </a:lnTo>
                  <a:lnTo>
                    <a:pt x="878912" y="42346"/>
                  </a:lnTo>
                  <a:lnTo>
                    <a:pt x="835163" y="27435"/>
                  </a:lnTo>
                  <a:lnTo>
                    <a:pt x="790073" y="15620"/>
                  </a:lnTo>
                  <a:lnTo>
                    <a:pt x="743767" y="7025"/>
                  </a:lnTo>
                  <a:lnTo>
                    <a:pt x="696370" y="1777"/>
                  </a:lnTo>
                  <a:lnTo>
                    <a:pt x="648008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86024" y="2056075"/>
              <a:ext cx="1296035" cy="1091565"/>
            </a:xfrm>
            <a:custGeom>
              <a:avLst/>
              <a:gdLst/>
              <a:ahLst/>
              <a:cxnLst/>
              <a:rect l="l" t="t" r="r" b="b"/>
              <a:pathLst>
                <a:path w="1296035" h="1091564">
                  <a:moveTo>
                    <a:pt x="648008" y="648008"/>
                  </a:moveTo>
                  <a:lnTo>
                    <a:pt x="1296017" y="648008"/>
                  </a:lnTo>
                  <a:lnTo>
                    <a:pt x="1294239" y="599646"/>
                  </a:lnTo>
                  <a:lnTo>
                    <a:pt x="1288991" y="552249"/>
                  </a:lnTo>
                  <a:lnTo>
                    <a:pt x="1280396" y="505943"/>
                  </a:lnTo>
                  <a:lnTo>
                    <a:pt x="1268581" y="460853"/>
                  </a:lnTo>
                  <a:lnTo>
                    <a:pt x="1253671" y="417104"/>
                  </a:lnTo>
                  <a:lnTo>
                    <a:pt x="1235790" y="374822"/>
                  </a:lnTo>
                  <a:lnTo>
                    <a:pt x="1215065" y="334132"/>
                  </a:lnTo>
                  <a:lnTo>
                    <a:pt x="1191620" y="295159"/>
                  </a:lnTo>
                  <a:lnTo>
                    <a:pt x="1165581" y="258028"/>
                  </a:lnTo>
                  <a:lnTo>
                    <a:pt x="1137073" y="222865"/>
                  </a:lnTo>
                  <a:lnTo>
                    <a:pt x="1106221" y="189795"/>
                  </a:lnTo>
                  <a:lnTo>
                    <a:pt x="1073151" y="158944"/>
                  </a:lnTo>
                  <a:lnTo>
                    <a:pt x="1037988" y="130436"/>
                  </a:lnTo>
                  <a:lnTo>
                    <a:pt x="1000858" y="104397"/>
                  </a:lnTo>
                  <a:lnTo>
                    <a:pt x="961884" y="80952"/>
                  </a:lnTo>
                  <a:lnTo>
                    <a:pt x="921194" y="60226"/>
                  </a:lnTo>
                  <a:lnTo>
                    <a:pt x="878912" y="42346"/>
                  </a:lnTo>
                  <a:lnTo>
                    <a:pt x="835163" y="27435"/>
                  </a:lnTo>
                  <a:lnTo>
                    <a:pt x="790073" y="15620"/>
                  </a:lnTo>
                  <a:lnTo>
                    <a:pt x="743767" y="7025"/>
                  </a:lnTo>
                  <a:lnTo>
                    <a:pt x="696370" y="1777"/>
                  </a:lnTo>
                  <a:lnTo>
                    <a:pt x="648008" y="0"/>
                  </a:lnTo>
                  <a:lnTo>
                    <a:pt x="599646" y="1777"/>
                  </a:lnTo>
                  <a:lnTo>
                    <a:pt x="552249" y="7025"/>
                  </a:lnTo>
                  <a:lnTo>
                    <a:pt x="505943" y="15620"/>
                  </a:lnTo>
                  <a:lnTo>
                    <a:pt x="460853" y="27435"/>
                  </a:lnTo>
                  <a:lnTo>
                    <a:pt x="417104" y="42346"/>
                  </a:lnTo>
                  <a:lnTo>
                    <a:pt x="374822" y="60226"/>
                  </a:lnTo>
                  <a:lnTo>
                    <a:pt x="334132" y="80952"/>
                  </a:lnTo>
                  <a:lnTo>
                    <a:pt x="295159" y="104397"/>
                  </a:lnTo>
                  <a:lnTo>
                    <a:pt x="258028" y="130436"/>
                  </a:lnTo>
                  <a:lnTo>
                    <a:pt x="222865" y="158944"/>
                  </a:lnTo>
                  <a:lnTo>
                    <a:pt x="189795" y="189795"/>
                  </a:lnTo>
                  <a:lnTo>
                    <a:pt x="158944" y="222865"/>
                  </a:lnTo>
                  <a:lnTo>
                    <a:pt x="130436" y="258028"/>
                  </a:lnTo>
                  <a:lnTo>
                    <a:pt x="104397" y="295159"/>
                  </a:lnTo>
                  <a:lnTo>
                    <a:pt x="80952" y="334132"/>
                  </a:lnTo>
                  <a:lnTo>
                    <a:pt x="60226" y="374822"/>
                  </a:lnTo>
                  <a:lnTo>
                    <a:pt x="42346" y="417104"/>
                  </a:lnTo>
                  <a:lnTo>
                    <a:pt x="27435" y="460853"/>
                  </a:lnTo>
                  <a:lnTo>
                    <a:pt x="15620" y="505943"/>
                  </a:lnTo>
                  <a:lnTo>
                    <a:pt x="7025" y="552249"/>
                  </a:lnTo>
                  <a:lnTo>
                    <a:pt x="1777" y="599646"/>
                  </a:lnTo>
                  <a:lnTo>
                    <a:pt x="0" y="648008"/>
                  </a:lnTo>
                  <a:lnTo>
                    <a:pt x="1872" y="697226"/>
                  </a:lnTo>
                  <a:lnTo>
                    <a:pt x="7438" y="745883"/>
                  </a:lnTo>
                  <a:lnTo>
                    <a:pt x="16620" y="793783"/>
                  </a:lnTo>
                  <a:lnTo>
                    <a:pt x="29340" y="840732"/>
                  </a:lnTo>
                  <a:lnTo>
                    <a:pt x="45522" y="886536"/>
                  </a:lnTo>
                  <a:lnTo>
                    <a:pt x="65087" y="931000"/>
                  </a:lnTo>
                  <a:lnTo>
                    <a:pt x="87959" y="973930"/>
                  </a:lnTo>
                  <a:lnTo>
                    <a:pt x="114059" y="1015130"/>
                  </a:lnTo>
                  <a:lnTo>
                    <a:pt x="143311" y="1054407"/>
                  </a:lnTo>
                  <a:lnTo>
                    <a:pt x="175637" y="1091566"/>
                  </a:lnTo>
                  <a:lnTo>
                    <a:pt x="648008" y="648008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80502" y="2417545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62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56602" y="2699021"/>
            <a:ext cx="1130935" cy="657860"/>
            <a:chOff x="1156602" y="2699021"/>
            <a:chExt cx="1130935" cy="657860"/>
          </a:xfrm>
        </p:grpSpPr>
        <p:sp>
          <p:nvSpPr>
            <p:cNvPr id="14" name="object 14"/>
            <p:cNvSpPr/>
            <p:nvPr/>
          </p:nvSpPr>
          <p:spPr>
            <a:xfrm>
              <a:off x="1161663" y="2704082"/>
              <a:ext cx="1120775" cy="647700"/>
            </a:xfrm>
            <a:custGeom>
              <a:avLst/>
              <a:gdLst/>
              <a:ahLst/>
              <a:cxnLst/>
              <a:rect l="l" t="t" r="r" b="b"/>
              <a:pathLst>
                <a:path w="1120775" h="647700">
                  <a:moveTo>
                    <a:pt x="1120381" y="0"/>
                  </a:moveTo>
                  <a:lnTo>
                    <a:pt x="472368" y="1"/>
                  </a:lnTo>
                  <a:lnTo>
                    <a:pt x="0" y="443557"/>
                  </a:lnTo>
                  <a:lnTo>
                    <a:pt x="34399" y="477594"/>
                  </a:lnTo>
                  <a:lnTo>
                    <a:pt x="70667" y="508551"/>
                  </a:lnTo>
                  <a:lnTo>
                    <a:pt x="108629" y="536423"/>
                  </a:lnTo>
                  <a:lnTo>
                    <a:pt x="148105" y="561204"/>
                  </a:lnTo>
                  <a:lnTo>
                    <a:pt x="188921" y="582888"/>
                  </a:lnTo>
                  <a:lnTo>
                    <a:pt x="230897" y="601471"/>
                  </a:lnTo>
                  <a:lnTo>
                    <a:pt x="273857" y="616946"/>
                  </a:lnTo>
                  <a:lnTo>
                    <a:pt x="317625" y="629308"/>
                  </a:lnTo>
                  <a:lnTo>
                    <a:pt x="362022" y="638551"/>
                  </a:lnTo>
                  <a:lnTo>
                    <a:pt x="406873" y="644669"/>
                  </a:lnTo>
                  <a:lnTo>
                    <a:pt x="451999" y="647658"/>
                  </a:lnTo>
                  <a:lnTo>
                    <a:pt x="497223" y="647512"/>
                  </a:lnTo>
                  <a:lnTo>
                    <a:pt x="542369" y="644224"/>
                  </a:lnTo>
                  <a:lnTo>
                    <a:pt x="587260" y="637790"/>
                  </a:lnTo>
                  <a:lnTo>
                    <a:pt x="631718" y="628204"/>
                  </a:lnTo>
                  <a:lnTo>
                    <a:pt x="675566" y="615460"/>
                  </a:lnTo>
                  <a:lnTo>
                    <a:pt x="718627" y="599552"/>
                  </a:lnTo>
                  <a:lnTo>
                    <a:pt x="760724" y="580476"/>
                  </a:lnTo>
                  <a:lnTo>
                    <a:pt x="801680" y="558225"/>
                  </a:lnTo>
                  <a:lnTo>
                    <a:pt x="841318" y="532794"/>
                  </a:lnTo>
                  <a:lnTo>
                    <a:pt x="879460" y="504178"/>
                  </a:lnTo>
                  <a:lnTo>
                    <a:pt x="915930" y="472370"/>
                  </a:lnTo>
                  <a:lnTo>
                    <a:pt x="950085" y="437799"/>
                  </a:lnTo>
                  <a:lnTo>
                    <a:pt x="981366" y="401004"/>
                  </a:lnTo>
                  <a:lnTo>
                    <a:pt x="1009692" y="362168"/>
                  </a:lnTo>
                  <a:lnTo>
                    <a:pt x="1034984" y="321475"/>
                  </a:lnTo>
                  <a:lnTo>
                    <a:pt x="1057163" y="279108"/>
                  </a:lnTo>
                  <a:lnTo>
                    <a:pt x="1076147" y="235249"/>
                  </a:lnTo>
                  <a:lnTo>
                    <a:pt x="1091859" y="190083"/>
                  </a:lnTo>
                  <a:lnTo>
                    <a:pt x="1104218" y="143791"/>
                  </a:lnTo>
                  <a:lnTo>
                    <a:pt x="1113144" y="96558"/>
                  </a:lnTo>
                  <a:lnTo>
                    <a:pt x="1118558" y="48567"/>
                  </a:lnTo>
                  <a:lnTo>
                    <a:pt x="1120381" y="0"/>
                  </a:lnTo>
                  <a:close/>
                </a:path>
              </a:pathLst>
            </a:custGeom>
            <a:solidFill>
              <a:srgbClr val="66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61663" y="2704082"/>
              <a:ext cx="1120775" cy="647700"/>
            </a:xfrm>
            <a:custGeom>
              <a:avLst/>
              <a:gdLst/>
              <a:ahLst/>
              <a:cxnLst/>
              <a:rect l="l" t="t" r="r" b="b"/>
              <a:pathLst>
                <a:path w="1120775" h="647700">
                  <a:moveTo>
                    <a:pt x="472368" y="1"/>
                  </a:moveTo>
                  <a:lnTo>
                    <a:pt x="0" y="443557"/>
                  </a:lnTo>
                  <a:lnTo>
                    <a:pt x="34399" y="477594"/>
                  </a:lnTo>
                  <a:lnTo>
                    <a:pt x="70667" y="508551"/>
                  </a:lnTo>
                  <a:lnTo>
                    <a:pt x="108629" y="536423"/>
                  </a:lnTo>
                  <a:lnTo>
                    <a:pt x="148105" y="561204"/>
                  </a:lnTo>
                  <a:lnTo>
                    <a:pt x="188921" y="582888"/>
                  </a:lnTo>
                  <a:lnTo>
                    <a:pt x="230897" y="601471"/>
                  </a:lnTo>
                  <a:lnTo>
                    <a:pt x="273857" y="616946"/>
                  </a:lnTo>
                  <a:lnTo>
                    <a:pt x="317625" y="629308"/>
                  </a:lnTo>
                  <a:lnTo>
                    <a:pt x="362022" y="638551"/>
                  </a:lnTo>
                  <a:lnTo>
                    <a:pt x="406873" y="644669"/>
                  </a:lnTo>
                  <a:lnTo>
                    <a:pt x="451999" y="647658"/>
                  </a:lnTo>
                  <a:lnTo>
                    <a:pt x="497223" y="647512"/>
                  </a:lnTo>
                  <a:lnTo>
                    <a:pt x="542369" y="644224"/>
                  </a:lnTo>
                  <a:lnTo>
                    <a:pt x="587260" y="637790"/>
                  </a:lnTo>
                  <a:lnTo>
                    <a:pt x="631718" y="628204"/>
                  </a:lnTo>
                  <a:lnTo>
                    <a:pt x="675566" y="615460"/>
                  </a:lnTo>
                  <a:lnTo>
                    <a:pt x="718627" y="599552"/>
                  </a:lnTo>
                  <a:lnTo>
                    <a:pt x="760724" y="580476"/>
                  </a:lnTo>
                  <a:lnTo>
                    <a:pt x="801680" y="558225"/>
                  </a:lnTo>
                  <a:lnTo>
                    <a:pt x="841318" y="532794"/>
                  </a:lnTo>
                  <a:lnTo>
                    <a:pt x="879460" y="504178"/>
                  </a:lnTo>
                  <a:lnTo>
                    <a:pt x="915930" y="472370"/>
                  </a:lnTo>
                  <a:lnTo>
                    <a:pt x="950085" y="437799"/>
                  </a:lnTo>
                  <a:lnTo>
                    <a:pt x="981366" y="401004"/>
                  </a:lnTo>
                  <a:lnTo>
                    <a:pt x="1009692" y="362168"/>
                  </a:lnTo>
                  <a:lnTo>
                    <a:pt x="1034984" y="321475"/>
                  </a:lnTo>
                  <a:lnTo>
                    <a:pt x="1057163" y="279108"/>
                  </a:lnTo>
                  <a:lnTo>
                    <a:pt x="1076147" y="235249"/>
                  </a:lnTo>
                  <a:lnTo>
                    <a:pt x="1091859" y="190083"/>
                  </a:lnTo>
                  <a:lnTo>
                    <a:pt x="1104218" y="143791"/>
                  </a:lnTo>
                  <a:lnTo>
                    <a:pt x="1113144" y="96558"/>
                  </a:lnTo>
                  <a:lnTo>
                    <a:pt x="1118558" y="48567"/>
                  </a:lnTo>
                  <a:lnTo>
                    <a:pt x="1120381" y="0"/>
                  </a:lnTo>
                  <a:lnTo>
                    <a:pt x="472368" y="1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660385" y="2871900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38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23872" y="2507509"/>
            <a:ext cx="102870" cy="102870"/>
            <a:chOff x="2523872" y="2507509"/>
            <a:chExt cx="102870" cy="102870"/>
          </a:xfrm>
        </p:grpSpPr>
        <p:sp>
          <p:nvSpPr>
            <p:cNvPr id="18" name="object 18"/>
            <p:cNvSpPr/>
            <p:nvPr/>
          </p:nvSpPr>
          <p:spPr>
            <a:xfrm>
              <a:off x="2528933" y="2512570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92354" y="0"/>
                  </a:moveTo>
                  <a:lnTo>
                    <a:pt x="0" y="0"/>
                  </a:lnTo>
                  <a:lnTo>
                    <a:pt x="0" y="92354"/>
                  </a:lnTo>
                  <a:lnTo>
                    <a:pt x="92354" y="92354"/>
                  </a:lnTo>
                  <a:lnTo>
                    <a:pt x="92354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28933" y="2512570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0" y="92354"/>
                  </a:moveTo>
                  <a:lnTo>
                    <a:pt x="92354" y="92354"/>
                  </a:lnTo>
                  <a:lnTo>
                    <a:pt x="92354" y="0"/>
                  </a:lnTo>
                  <a:lnTo>
                    <a:pt x="0" y="0"/>
                  </a:lnTo>
                  <a:lnTo>
                    <a:pt x="0" y="92354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662351" y="2436023"/>
            <a:ext cx="931544" cy="38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400"/>
              </a:lnSpc>
              <a:spcBef>
                <a:spcPts val="100"/>
              </a:spcBef>
            </a:pPr>
            <a:r>
              <a:rPr sz="1100" spc="-10" dirty="0">
                <a:latin typeface="Tahoma"/>
                <a:cs typeface="Tahoma"/>
              </a:rPr>
              <a:t>Không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sống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sót </a:t>
            </a:r>
            <a:r>
              <a:rPr sz="1100" spc="-40" dirty="0">
                <a:latin typeface="Tahoma"/>
                <a:cs typeface="Tahoma"/>
              </a:rPr>
              <a:t>Sống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sót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523872" y="2687511"/>
            <a:ext cx="102870" cy="102870"/>
            <a:chOff x="2523872" y="2687511"/>
            <a:chExt cx="102870" cy="102870"/>
          </a:xfrm>
        </p:grpSpPr>
        <p:sp>
          <p:nvSpPr>
            <p:cNvPr id="22" name="object 22"/>
            <p:cNvSpPr/>
            <p:nvPr/>
          </p:nvSpPr>
          <p:spPr>
            <a:xfrm>
              <a:off x="2528933" y="269257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92354" y="0"/>
                  </a:moveTo>
                  <a:lnTo>
                    <a:pt x="0" y="0"/>
                  </a:lnTo>
                  <a:lnTo>
                    <a:pt x="0" y="92354"/>
                  </a:lnTo>
                  <a:lnTo>
                    <a:pt x="92354" y="92354"/>
                  </a:lnTo>
                  <a:lnTo>
                    <a:pt x="92354" y="0"/>
                  </a:lnTo>
                  <a:close/>
                </a:path>
              </a:pathLst>
            </a:custGeom>
            <a:solidFill>
              <a:srgbClr val="66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28933" y="269257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10" h="92710">
                  <a:moveTo>
                    <a:pt x="0" y="92354"/>
                  </a:moveTo>
                  <a:lnTo>
                    <a:pt x="92354" y="92354"/>
                  </a:lnTo>
                  <a:lnTo>
                    <a:pt x="92354" y="0"/>
                  </a:lnTo>
                  <a:lnTo>
                    <a:pt x="0" y="0"/>
                  </a:lnTo>
                  <a:lnTo>
                    <a:pt x="0" y="92354"/>
                  </a:lnTo>
                  <a:close/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Đơn</a:t>
            </a:r>
            <a:r>
              <a:rPr spc="-30" dirty="0"/>
              <a:t> </a:t>
            </a:r>
            <a:r>
              <a:rPr spc="-35" dirty="0"/>
              <a:t>biến</a:t>
            </a:r>
            <a:r>
              <a:rPr spc="-25" dirty="0"/>
              <a:t> (Univariate </a:t>
            </a:r>
            <a:r>
              <a:rPr spc="-10" dirty="0"/>
              <a:t>Plots)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878" y="489963"/>
            <a:ext cx="2306934" cy="18271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2492799"/>
            <a:ext cx="4070350" cy="841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375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3333B2"/>
                </a:solidFill>
                <a:latin typeface="Tahoma"/>
                <a:cs typeface="Tahoma"/>
              </a:rPr>
              <a:t>Hình:</a:t>
            </a:r>
            <a:r>
              <a:rPr sz="1000" spc="-4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biểu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đồ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minh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họa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phân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bố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Survived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dirty="0">
                <a:latin typeface="Tahoma"/>
                <a:cs typeface="Tahoma"/>
              </a:rPr>
              <a:t>Số</a:t>
            </a:r>
            <a:r>
              <a:rPr sz="1100" spc="-50" dirty="0">
                <a:latin typeface="Tahoma"/>
                <a:cs typeface="Tahoma"/>
              </a:rPr>
              <a:t> lượng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hành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khách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không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sống</a:t>
            </a:r>
            <a:r>
              <a:rPr sz="1100" b="1" spc="2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sót</a:t>
            </a:r>
            <a:r>
              <a:rPr sz="1100" b="1" spc="1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(549)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hơn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đáng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kể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với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b="1" spc="-75" dirty="0">
                <a:latin typeface="Tahoma"/>
                <a:cs typeface="Tahoma"/>
              </a:rPr>
              <a:t>sống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sót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(342)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Phần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lớn</a:t>
            </a:r>
            <a:r>
              <a:rPr sz="1100" spc="-45" dirty="0">
                <a:latin typeface="Tahoma"/>
                <a:cs typeface="Tahoma"/>
              </a:rPr>
              <a:t> hành </a:t>
            </a:r>
            <a:r>
              <a:rPr sz="1100" spc="-25" dirty="0">
                <a:latin typeface="Tahoma"/>
                <a:cs typeface="Tahoma"/>
              </a:rPr>
              <a:t>khách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đã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không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qua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khỏi,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chiếm</a:t>
            </a:r>
            <a:r>
              <a:rPr sz="1100" spc="-45" dirty="0">
                <a:latin typeface="Tahoma"/>
                <a:cs typeface="Tahoma"/>
              </a:rPr>
              <a:t> khoảng </a:t>
            </a:r>
            <a:r>
              <a:rPr sz="1100" b="1" spc="-105" dirty="0">
                <a:latin typeface="Tahoma"/>
                <a:cs typeface="Tahoma"/>
              </a:rPr>
              <a:t>61.6%</a:t>
            </a:r>
            <a:r>
              <a:rPr sz="1100" b="1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tổng.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2881871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3226028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698" y="60004"/>
            <a:ext cx="1724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Box</a:t>
            </a:r>
            <a:r>
              <a:rPr spc="-60" dirty="0"/>
              <a:t> </a:t>
            </a:r>
            <a:r>
              <a:rPr spc="-40" dirty="0"/>
              <a:t>and</a:t>
            </a:r>
            <a:r>
              <a:rPr spc="-55" dirty="0"/>
              <a:t> </a:t>
            </a:r>
            <a:r>
              <a:rPr spc="-40" dirty="0"/>
              <a:t>Whisker</a:t>
            </a:r>
            <a:r>
              <a:rPr spc="-60" dirty="0"/>
              <a:t> </a:t>
            </a:r>
            <a:r>
              <a:rPr spc="-10" dirty="0"/>
              <a:t>Plots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654215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26933"/>
            <a:ext cx="313690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35" dirty="0">
                <a:latin typeface="Tahoma"/>
                <a:cs typeface="Tahoma"/>
              </a:rPr>
              <a:t>Age: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20–38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tuổi,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vị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28–30,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lớn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tuổi.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b="1" spc="-60" dirty="0">
                <a:latin typeface="Tahoma"/>
                <a:cs typeface="Tahoma"/>
              </a:rPr>
              <a:t>SibSp: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75%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từ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0–1,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vị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vài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giá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trị</a:t>
            </a:r>
            <a:r>
              <a:rPr sz="1100" spc="-30" dirty="0">
                <a:latin typeface="Tahoma"/>
                <a:cs typeface="Tahoma"/>
              </a:rPr>
              <a:t> ngoại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lệ.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b="1" spc="-65" dirty="0">
                <a:latin typeface="Tahoma"/>
                <a:cs typeface="Tahoma"/>
              </a:rPr>
              <a:t>Parch: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số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0,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outliers.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65" dirty="0">
                <a:latin typeface="Tahoma"/>
                <a:cs typeface="Tahoma"/>
              </a:rPr>
              <a:t>Fare:</a:t>
            </a:r>
            <a:r>
              <a:rPr sz="1100" b="1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Lệch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phải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mạnh,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vị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&lt;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20,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outliers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&gt;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500.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65" dirty="0">
                <a:latin typeface="Tahoma"/>
                <a:cs typeface="Tahoma"/>
              </a:rPr>
              <a:t>Fare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thang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lớn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→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các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biến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khác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bị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nén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ở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đáy.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864247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074280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28431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494345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525" y="1785282"/>
            <a:ext cx="2123736" cy="140338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4344" y="1785282"/>
            <a:ext cx="2123736" cy="140996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Histogram</a:t>
            </a:r>
            <a:r>
              <a:rPr spc="-45" dirty="0"/>
              <a:t> </a:t>
            </a:r>
            <a:r>
              <a:rPr spc="-40" dirty="0"/>
              <a:t>(Sex </a:t>
            </a:r>
            <a:r>
              <a:rPr spc="-60" dirty="0"/>
              <a:t>vs</a:t>
            </a:r>
            <a:r>
              <a:rPr spc="-35" dirty="0"/>
              <a:t> </a:t>
            </a:r>
            <a:r>
              <a:rPr spc="-40" dirty="0"/>
              <a:t>Survived)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495642"/>
            <a:ext cx="65201" cy="65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647471"/>
            <a:ext cx="65201" cy="65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811974"/>
            <a:ext cx="52527" cy="525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963803"/>
            <a:ext cx="52527" cy="525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115631"/>
            <a:ext cx="52527" cy="525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1254785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915" y="1419301"/>
            <a:ext cx="52527" cy="5252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0915" y="1571129"/>
            <a:ext cx="52527" cy="5252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412126"/>
            <a:ext cx="2524760" cy="12522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29"/>
              </a:spcBef>
            </a:pPr>
            <a:r>
              <a:rPr sz="1100" b="1" spc="-35" dirty="0">
                <a:latin typeface="Tahoma"/>
                <a:cs typeface="Tahoma"/>
              </a:rPr>
              <a:t>Giới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tính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là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90" dirty="0">
                <a:latin typeface="Tahoma"/>
                <a:cs typeface="Tahoma"/>
              </a:rPr>
              <a:t>yếu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tố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dự</a:t>
            </a:r>
            <a:r>
              <a:rPr sz="1100" b="1" spc="-1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đoán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mạnh</a:t>
            </a:r>
            <a:r>
              <a:rPr sz="1100" b="1" spc="-10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nhất. </a:t>
            </a:r>
            <a:r>
              <a:rPr sz="1100" b="1" dirty="0">
                <a:latin typeface="Tahoma"/>
                <a:cs typeface="Tahoma"/>
              </a:rPr>
              <a:t>Nữ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(female):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dirty="0">
                <a:latin typeface="Tahoma"/>
                <a:cs typeface="Tahoma"/>
              </a:rPr>
              <a:t>Tỷ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lệ</a:t>
            </a:r>
            <a:r>
              <a:rPr sz="1000" spc="-45" dirty="0">
                <a:latin typeface="Tahoma"/>
                <a:cs typeface="Tahoma"/>
              </a:rPr>
              <a:t> sống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vượt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trội.</a:t>
            </a:r>
            <a:endParaRPr sz="1000">
              <a:latin typeface="Tahoma"/>
              <a:cs typeface="Tahoma"/>
            </a:endParaRPr>
          </a:p>
          <a:p>
            <a:pPr marL="289560" marR="216535">
              <a:lnSpc>
                <a:spcPts val="1200"/>
              </a:lnSpc>
              <a:spcBef>
                <a:spcPts val="35"/>
              </a:spcBef>
            </a:pPr>
            <a:r>
              <a:rPr sz="1000" dirty="0">
                <a:latin typeface="Tahoma"/>
                <a:cs typeface="Tahoma"/>
              </a:rPr>
              <a:t>Số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hơn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tử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vong. </a:t>
            </a:r>
            <a:r>
              <a:rPr sz="1000" spc="-25" dirty="0">
                <a:latin typeface="Tahoma"/>
                <a:cs typeface="Tahoma"/>
              </a:rPr>
              <a:t>233/342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người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là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nữ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68%).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160"/>
              </a:lnSpc>
            </a:pPr>
            <a:r>
              <a:rPr sz="1100" b="1" spc="-20" dirty="0">
                <a:latin typeface="Tahoma"/>
                <a:cs typeface="Tahoma"/>
              </a:rPr>
              <a:t>Nam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(male):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185"/>
              </a:lnSpc>
            </a:pPr>
            <a:r>
              <a:rPr sz="1000" dirty="0">
                <a:latin typeface="Tahoma"/>
                <a:cs typeface="Tahoma"/>
              </a:rPr>
              <a:t>Tỷ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lệ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tử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vong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rất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cao.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25" dirty="0">
                <a:latin typeface="Tahoma"/>
                <a:cs typeface="Tahoma"/>
              </a:rPr>
              <a:t>468/549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người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tử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vong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là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nam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85%).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59461" y="1759244"/>
            <a:ext cx="2096719" cy="164224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Phân</a:t>
            </a:r>
            <a:r>
              <a:rPr spc="-40" dirty="0"/>
              <a:t> </a:t>
            </a:r>
            <a:r>
              <a:rPr dirty="0"/>
              <a:t>tích</a:t>
            </a:r>
            <a:r>
              <a:rPr spc="-35" dirty="0"/>
              <a:t> </a:t>
            </a:r>
            <a:r>
              <a:rPr spc="-10" dirty="0"/>
              <a:t>theo</a:t>
            </a:r>
            <a:r>
              <a:rPr spc="-35" dirty="0"/>
              <a:t> </a:t>
            </a:r>
            <a:r>
              <a:rPr spc="-55" dirty="0"/>
              <a:t>hạng</a:t>
            </a:r>
            <a:r>
              <a:rPr spc="-35" dirty="0"/>
              <a:t> </a:t>
            </a:r>
            <a:r>
              <a:rPr spc="-55" dirty="0"/>
              <a:t>vé</a:t>
            </a:r>
            <a:r>
              <a:rPr spc="-35" dirty="0"/>
              <a:t> (Pclass)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540613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397567"/>
            <a:ext cx="2521585" cy="114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7170">
              <a:lnSpc>
                <a:spcPct val="146600"/>
              </a:lnSpc>
              <a:spcBef>
                <a:spcPts val="100"/>
              </a:spcBef>
            </a:pPr>
            <a:r>
              <a:rPr sz="1000" spc="-10" dirty="0">
                <a:latin typeface="Tahoma"/>
                <a:cs typeface="Tahoma"/>
              </a:rPr>
              <a:t>Hạng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vé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càng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cao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→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cơ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hội</a:t>
            </a:r>
            <a:r>
              <a:rPr sz="1000" spc="-45" dirty="0">
                <a:latin typeface="Tahoma"/>
                <a:cs typeface="Tahoma"/>
              </a:rPr>
              <a:t> sống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càng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lớn. </a:t>
            </a:r>
            <a:r>
              <a:rPr sz="1000" spc="-10" dirty="0">
                <a:latin typeface="Tahoma"/>
                <a:cs typeface="Tahoma"/>
              </a:rPr>
              <a:t>Hạng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1: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nhiều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hơn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tử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vong.</a:t>
            </a:r>
            <a:endParaRPr sz="1000">
              <a:latin typeface="Tahoma"/>
              <a:cs typeface="Tahoma"/>
            </a:endParaRPr>
          </a:p>
          <a:p>
            <a:pPr marL="12700" marR="1196975">
              <a:lnSpc>
                <a:spcPct val="146600"/>
              </a:lnSpc>
            </a:pPr>
            <a:r>
              <a:rPr sz="1000" spc="-10" dirty="0">
                <a:latin typeface="Tahoma"/>
                <a:cs typeface="Tahoma"/>
              </a:rPr>
              <a:t>Hạng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2: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gần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cân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bằng. Hạng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3: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tử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vong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áp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đảo.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000" spc="-10" dirty="0">
                <a:latin typeface="Tahoma"/>
                <a:cs typeface="Tahoma"/>
              </a:rPr>
              <a:t>Pclass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thể</a:t>
            </a:r>
            <a:r>
              <a:rPr sz="1000" spc="-35" dirty="0">
                <a:latin typeface="Tahoma"/>
                <a:cs typeface="Tahoma"/>
              </a:rPr>
              <a:t> hiện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rõ</a:t>
            </a:r>
            <a:r>
              <a:rPr sz="1000" spc="-35" dirty="0">
                <a:latin typeface="Tahoma"/>
                <a:cs typeface="Tahoma"/>
              </a:rPr>
              <a:t> ảnh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hưởng</a:t>
            </a:r>
            <a:r>
              <a:rPr sz="1000" spc="-20" dirty="0">
                <a:latin typeface="Tahoma"/>
                <a:cs typeface="Tahoma"/>
              </a:rPr>
              <a:t> của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địa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vị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xã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hội.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763994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987374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210741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434122"/>
            <a:ext cx="65201" cy="652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9461" y="1713550"/>
            <a:ext cx="2096719" cy="164224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Phân</a:t>
            </a:r>
            <a:r>
              <a:rPr spc="-50" dirty="0"/>
              <a:t> </a:t>
            </a:r>
            <a:r>
              <a:rPr dirty="0"/>
              <a:t>tích</a:t>
            </a:r>
            <a:r>
              <a:rPr spc="-45" dirty="0"/>
              <a:t> </a:t>
            </a:r>
            <a:r>
              <a:rPr spc="-10" dirty="0"/>
              <a:t>đa</a:t>
            </a:r>
            <a:r>
              <a:rPr spc="-45" dirty="0"/>
              <a:t> </a:t>
            </a:r>
            <a:r>
              <a:rPr spc="-35" dirty="0"/>
              <a:t>biến</a:t>
            </a:r>
            <a:r>
              <a:rPr spc="-45" dirty="0"/>
              <a:t> </a:t>
            </a:r>
            <a:r>
              <a:rPr dirty="0"/>
              <a:t>(Multivariate</a:t>
            </a:r>
            <a:r>
              <a:rPr spc="-45" dirty="0"/>
              <a:t> </a:t>
            </a:r>
            <a:r>
              <a:rPr spc="-35" dirty="0"/>
              <a:t>Analysis)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519671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397580"/>
            <a:ext cx="2958465" cy="10382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000" spc="-10" dirty="0">
                <a:latin typeface="Tahoma"/>
                <a:cs typeface="Tahoma"/>
              </a:rPr>
              <a:t>Hạng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vé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cao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125" dirty="0">
                <a:latin typeface="Cambria"/>
                <a:cs typeface="Cambria"/>
              </a:rPr>
              <a:t>⇒</a:t>
            </a:r>
            <a:r>
              <a:rPr sz="1000" spc="60" dirty="0">
                <a:latin typeface="Cambria"/>
                <a:cs typeface="Cambria"/>
              </a:rPr>
              <a:t> </a:t>
            </a:r>
            <a:r>
              <a:rPr sz="1000" dirty="0">
                <a:latin typeface="Tahoma"/>
                <a:cs typeface="Tahoma"/>
              </a:rPr>
              <a:t>cơ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hội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cao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hơn.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spc="-20" dirty="0">
                <a:latin typeface="Tahoma"/>
                <a:cs typeface="Tahoma"/>
              </a:rPr>
              <a:t>Người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thường </a:t>
            </a:r>
            <a:r>
              <a:rPr sz="1000" dirty="0">
                <a:latin typeface="Tahoma"/>
                <a:cs typeface="Tahoma"/>
              </a:rPr>
              <a:t>trẻ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và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trả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vé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cao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hơn.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latin typeface="Tahoma"/>
                <a:cs typeface="Tahoma"/>
              </a:rPr>
              <a:t>Gia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đình </a:t>
            </a:r>
            <a:r>
              <a:rPr sz="1000" spc="-35" dirty="0">
                <a:latin typeface="Tahoma"/>
                <a:cs typeface="Tahoma"/>
              </a:rPr>
              <a:t>nhỏ</a:t>
            </a:r>
            <a:r>
              <a:rPr sz="1000" spc="-25" dirty="0">
                <a:latin typeface="Tahoma"/>
                <a:cs typeface="Tahoma"/>
              </a:rPr>
              <a:t> (1–2 </a:t>
            </a:r>
            <a:r>
              <a:rPr sz="1000" spc="-35" dirty="0">
                <a:latin typeface="Tahoma"/>
                <a:cs typeface="Tahoma"/>
              </a:rPr>
              <a:t>người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đi</a:t>
            </a:r>
            <a:r>
              <a:rPr sz="1000" spc="-25" dirty="0">
                <a:latin typeface="Tahoma"/>
                <a:cs typeface="Tahoma"/>
              </a:rPr>
              <a:t> cùng) </a:t>
            </a:r>
            <a:r>
              <a:rPr sz="1000" dirty="0">
                <a:latin typeface="Tahoma"/>
                <a:cs typeface="Tahoma"/>
              </a:rPr>
              <a:t>có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tỉ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lệ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tốt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hơn.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60" dirty="0">
                <a:latin typeface="Tahoma"/>
                <a:cs typeface="Tahoma"/>
              </a:rPr>
              <a:t>Fare</a:t>
            </a:r>
            <a:r>
              <a:rPr sz="1000" b="1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và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Pclass</a:t>
            </a:r>
            <a:r>
              <a:rPr sz="1000" b="1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tương</a:t>
            </a:r>
            <a:r>
              <a:rPr sz="1000" spc="-30" dirty="0">
                <a:latin typeface="Tahoma"/>
                <a:cs typeface="Tahoma"/>
              </a:rPr>
              <a:t> quan </a:t>
            </a:r>
            <a:r>
              <a:rPr sz="1000" spc="-25" dirty="0">
                <a:latin typeface="Tahoma"/>
                <a:cs typeface="Tahoma"/>
              </a:rPr>
              <a:t>nghịch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rõ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rệt.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25" dirty="0">
                <a:latin typeface="Tahoma"/>
                <a:cs typeface="Tahoma"/>
              </a:rPr>
              <a:t>Age</a:t>
            </a:r>
            <a:r>
              <a:rPr sz="1000" spc="-25" dirty="0">
                <a:latin typeface="Tahoma"/>
                <a:cs typeface="Tahoma"/>
              </a:rPr>
              <a:t>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SibSp</a:t>
            </a:r>
            <a:r>
              <a:rPr sz="1000" spc="-40" dirty="0">
                <a:latin typeface="Tahoma"/>
                <a:cs typeface="Tahoma"/>
              </a:rPr>
              <a:t>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b="1" spc="-55" dirty="0">
                <a:latin typeface="Tahoma"/>
                <a:cs typeface="Tahoma"/>
              </a:rPr>
              <a:t>Parch</a:t>
            </a:r>
            <a:r>
              <a:rPr sz="1000" b="1" spc="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ít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tương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quan</a:t>
            </a:r>
            <a:r>
              <a:rPr sz="1000" spc="-10" dirty="0">
                <a:latin typeface="Tahoma"/>
                <a:cs typeface="Tahoma"/>
              </a:rPr>
              <a:t> mạnh.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722122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924560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126997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1329436"/>
            <a:ext cx="65201" cy="65201"/>
          </a:xfrm>
          <a:prstGeom prst="rect">
            <a:avLst/>
          </a:prstGeo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6AB38AF0-7C70-46AD-4356-E413C5DFD74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1445044"/>
            <a:ext cx="4267199" cy="201570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Ma</a:t>
            </a:r>
            <a:r>
              <a:rPr spc="20" dirty="0"/>
              <a:t> </a:t>
            </a:r>
            <a:r>
              <a:rPr dirty="0"/>
              <a:t>trận</a:t>
            </a:r>
            <a:r>
              <a:rPr spc="20" dirty="0"/>
              <a:t> </a:t>
            </a:r>
            <a:r>
              <a:rPr spc="-75" dirty="0"/>
              <a:t>tương</a:t>
            </a:r>
            <a:r>
              <a:rPr spc="20" dirty="0"/>
              <a:t> </a:t>
            </a:r>
            <a:r>
              <a:rPr spc="-50" dirty="0"/>
              <a:t>quan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531177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397567"/>
            <a:ext cx="1635125" cy="88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400"/>
              </a:lnSpc>
              <a:spcBef>
                <a:spcPts val="100"/>
              </a:spcBef>
            </a:pPr>
            <a:r>
              <a:rPr sz="1000" dirty="0">
                <a:latin typeface="Tahoma"/>
                <a:cs typeface="Tahoma"/>
              </a:rPr>
              <a:t>Không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biến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nào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85" dirty="0">
                <a:latin typeface="Tahoma"/>
                <a:cs typeface="Tahoma"/>
              </a:rPr>
              <a:t>|r|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i="1" spc="90" dirty="0">
                <a:latin typeface="Times New Roman"/>
                <a:cs typeface="Times New Roman"/>
              </a:rPr>
              <a:t>&gt;</a:t>
            </a:r>
            <a:r>
              <a:rPr sz="1000" i="1" spc="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ahoma"/>
                <a:cs typeface="Tahoma"/>
              </a:rPr>
              <a:t>0.8 </a:t>
            </a:r>
            <a:r>
              <a:rPr sz="1000" spc="-20" dirty="0">
                <a:latin typeface="Tahoma"/>
                <a:cs typeface="Tahoma"/>
              </a:rPr>
              <a:t>Pclass-</a:t>
            </a:r>
            <a:r>
              <a:rPr sz="1000" spc="-60" dirty="0">
                <a:latin typeface="Tahoma"/>
                <a:cs typeface="Tahoma"/>
              </a:rPr>
              <a:t>Fare: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tương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quan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mạnh </a:t>
            </a:r>
            <a:r>
              <a:rPr sz="1000" spc="-10" dirty="0">
                <a:latin typeface="Tahoma"/>
                <a:cs typeface="Tahoma"/>
              </a:rPr>
              <a:t>SibSp-</a:t>
            </a:r>
            <a:r>
              <a:rPr sz="1000" spc="-40" dirty="0">
                <a:latin typeface="Tahoma"/>
                <a:cs typeface="Tahoma"/>
              </a:rPr>
              <a:t>Parch: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liên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hệ</a:t>
            </a:r>
            <a:r>
              <a:rPr sz="1000" spc="-25" dirty="0">
                <a:latin typeface="Tahoma"/>
                <a:cs typeface="Tahoma"/>
              </a:rPr>
              <a:t> nhẹ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000" spc="-25" dirty="0">
                <a:latin typeface="Tahoma"/>
                <a:cs typeface="Tahoma"/>
              </a:rPr>
              <a:t>Age: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gần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như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độc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lập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745109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959053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172997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5694" y="1389216"/>
            <a:ext cx="2411849" cy="197332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Phân</a:t>
            </a:r>
            <a:r>
              <a:rPr spc="-45" dirty="0"/>
              <a:t> </a:t>
            </a:r>
            <a:r>
              <a:rPr dirty="0"/>
              <a:t>bố</a:t>
            </a:r>
            <a:r>
              <a:rPr spc="-35" dirty="0"/>
              <a:t> </a:t>
            </a:r>
            <a:r>
              <a:rPr spc="-70" dirty="0"/>
              <a:t>sống</a:t>
            </a:r>
            <a:r>
              <a:rPr spc="-25" dirty="0"/>
              <a:t> sót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495642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12126"/>
            <a:ext cx="287782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Age: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Trẻ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lợi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thế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sống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sót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45" dirty="0">
                <a:latin typeface="Tahoma"/>
                <a:cs typeface="Tahoma"/>
              </a:rPr>
              <a:t>Fare: </a:t>
            </a:r>
            <a:r>
              <a:rPr sz="1100" dirty="0">
                <a:latin typeface="Tahoma"/>
                <a:cs typeface="Tahoma"/>
              </a:rPr>
              <a:t>Vé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cao</a:t>
            </a:r>
            <a:r>
              <a:rPr sz="1100" spc="-45" dirty="0">
                <a:latin typeface="Tahoma"/>
                <a:cs typeface="Tahoma"/>
              </a:rPr>
              <a:t> hạng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sang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sống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sót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nhiều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spc="-25" dirty="0">
                <a:latin typeface="Tahoma"/>
                <a:cs typeface="Tahoma"/>
              </a:rPr>
              <a:t>Pclass: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Hạng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1–2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sống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sót,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hạng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tử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vong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đa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số </a:t>
            </a:r>
            <a:r>
              <a:rPr sz="1100" spc="-20" dirty="0">
                <a:latin typeface="Tahoma"/>
                <a:cs typeface="Tahoma"/>
              </a:rPr>
              <a:t>SibSp/Parch: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1–2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người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đi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cùng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sống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hơn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66771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83978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011859"/>
            <a:ext cx="65201" cy="65201"/>
          </a:xfrm>
          <a:prstGeom prst="rect">
            <a:avLst/>
          </a:prstGeo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F71C0BAE-B856-9496-4BE0-C7C5875DFB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66" y="1120152"/>
            <a:ext cx="3779913" cy="228059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Tạo</a:t>
            </a:r>
            <a:r>
              <a:rPr spc="-45" dirty="0"/>
              <a:t> đặc </a:t>
            </a:r>
            <a:r>
              <a:rPr spc="-20" dirty="0"/>
              <a:t>trưng</a:t>
            </a:r>
            <a:r>
              <a:rPr spc="-45" dirty="0"/>
              <a:t> </a:t>
            </a:r>
            <a:r>
              <a:rPr spc="-50" dirty="0"/>
              <a:t>mới</a:t>
            </a:r>
            <a:r>
              <a:rPr spc="-40" dirty="0"/>
              <a:t> </a:t>
            </a:r>
            <a:r>
              <a:rPr spc="-35" dirty="0"/>
              <a:t>(Feature</a:t>
            </a:r>
            <a:r>
              <a:rPr spc="-45" dirty="0"/>
              <a:t> </a:t>
            </a:r>
            <a:r>
              <a:rPr spc="-40" dirty="0"/>
              <a:t>Engineering)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45540"/>
            <a:ext cx="65201" cy="652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73289"/>
            <a:ext cx="65201" cy="65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601038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107133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334882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562631"/>
            <a:ext cx="65201" cy="652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5844" y="770388"/>
            <a:ext cx="3068320" cy="1898014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35585" indent="-222885">
              <a:lnSpc>
                <a:spcPct val="100000"/>
              </a:lnSpc>
              <a:spcBef>
                <a:spcPts val="695"/>
              </a:spcBef>
              <a:buAutoNum type="arabicParenBoth"/>
              <a:tabLst>
                <a:tab pos="235585" algn="l"/>
              </a:tabLst>
            </a:pPr>
            <a:r>
              <a:rPr sz="1000" b="1" spc="-55" dirty="0">
                <a:latin typeface="Tahoma"/>
                <a:cs typeface="Tahoma"/>
              </a:rPr>
              <a:t>FamilySize</a:t>
            </a:r>
            <a:r>
              <a:rPr sz="1000" b="1" spc="55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=</a:t>
            </a:r>
            <a:r>
              <a:rPr sz="1000" b="1" spc="55" dirty="0">
                <a:latin typeface="Tahoma"/>
                <a:cs typeface="Tahoma"/>
              </a:rPr>
              <a:t> </a:t>
            </a:r>
            <a:r>
              <a:rPr sz="1000" b="1" spc="-35" dirty="0">
                <a:latin typeface="Tahoma"/>
                <a:cs typeface="Tahoma"/>
              </a:rPr>
              <a:t>SibSp</a:t>
            </a:r>
            <a:r>
              <a:rPr sz="1000" b="1" spc="55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+</a:t>
            </a:r>
            <a:r>
              <a:rPr sz="1000" b="1" spc="5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Parch</a:t>
            </a:r>
            <a:r>
              <a:rPr sz="1000" b="1" spc="55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+</a:t>
            </a:r>
            <a:r>
              <a:rPr sz="1000" b="1" spc="5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90"/>
              </a:spcBef>
            </a:pPr>
            <a:r>
              <a:rPr sz="1000" spc="-20" dirty="0">
                <a:latin typeface="Tahoma"/>
                <a:cs typeface="Tahoma"/>
              </a:rPr>
              <a:t>Người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đi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một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mình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rất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ít.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ct val="149400"/>
              </a:lnSpc>
            </a:pPr>
            <a:r>
              <a:rPr sz="1000" dirty="0">
                <a:latin typeface="Tahoma"/>
                <a:cs typeface="Tahoma"/>
              </a:rPr>
              <a:t>Gia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đình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nhỏ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(2–4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người) </a:t>
            </a:r>
            <a:r>
              <a:rPr sz="1000" dirty="0">
                <a:latin typeface="Tahoma"/>
                <a:cs typeface="Tahoma"/>
              </a:rPr>
              <a:t>có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tỉ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lệ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cao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nhất.</a:t>
            </a:r>
            <a:r>
              <a:rPr sz="1000" spc="50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Gia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đình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lớn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(&gt;5)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khó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do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khó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hỗ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trợ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nhau.</a:t>
            </a:r>
            <a:endParaRPr sz="1000">
              <a:latin typeface="Tahoma"/>
              <a:cs typeface="Tahoma"/>
            </a:endParaRPr>
          </a:p>
          <a:p>
            <a:pPr marL="234950" marR="655320" indent="-222885">
              <a:lnSpc>
                <a:spcPct val="149400"/>
              </a:lnSpc>
              <a:spcBef>
                <a:spcPts val="400"/>
              </a:spcBef>
              <a:buAutoNum type="arabicParenBoth" startAt="2"/>
              <a:tabLst>
                <a:tab pos="289560" algn="l"/>
              </a:tabLst>
            </a:pPr>
            <a:r>
              <a:rPr sz="1000" b="1" dirty="0">
                <a:latin typeface="Tahoma"/>
                <a:cs typeface="Tahoma"/>
              </a:rPr>
              <a:t>Title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(Mr,</a:t>
            </a:r>
            <a:r>
              <a:rPr sz="1000" b="1" spc="-5" dirty="0">
                <a:latin typeface="Tahoma"/>
                <a:cs typeface="Tahoma"/>
              </a:rPr>
              <a:t> </a:t>
            </a:r>
            <a:r>
              <a:rPr sz="1000" b="1" dirty="0">
                <a:latin typeface="Tahoma"/>
                <a:cs typeface="Tahoma"/>
              </a:rPr>
              <a:t>Mrs,</a:t>
            </a:r>
            <a:r>
              <a:rPr sz="1000" b="1" spc="-10" dirty="0">
                <a:latin typeface="Tahoma"/>
                <a:cs typeface="Tahoma"/>
              </a:rPr>
              <a:t> Miss,</a:t>
            </a:r>
            <a:r>
              <a:rPr sz="1000" b="1" spc="-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Master,</a:t>
            </a:r>
            <a:r>
              <a:rPr sz="1000" b="1" spc="-1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Other) 	</a:t>
            </a:r>
            <a:r>
              <a:rPr sz="1000" b="1" dirty="0">
                <a:latin typeface="Tahoma"/>
                <a:cs typeface="Tahoma"/>
              </a:rPr>
              <a:t>Mr:</a:t>
            </a:r>
            <a:r>
              <a:rPr sz="1000" b="1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đông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nhất, </a:t>
            </a:r>
            <a:r>
              <a:rPr sz="1000" dirty="0">
                <a:latin typeface="Tahoma"/>
                <a:cs typeface="Tahoma"/>
              </a:rPr>
              <a:t>tỉ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lệ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tử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vong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cao.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95"/>
              </a:spcBef>
            </a:pPr>
            <a:r>
              <a:rPr sz="1000" b="1" dirty="0">
                <a:latin typeface="Tahoma"/>
                <a:cs typeface="Tahoma"/>
              </a:rPr>
              <a:t>Mrs,</a:t>
            </a:r>
            <a:r>
              <a:rPr sz="1000" b="1" spc="-3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Miss,</a:t>
            </a:r>
            <a:r>
              <a:rPr sz="1000" b="1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Master: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sống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sót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nhiều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hơn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rõ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rệt.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590"/>
              </a:spcBef>
            </a:pPr>
            <a:r>
              <a:rPr sz="1000" b="1" spc="-40" dirty="0">
                <a:latin typeface="Tahoma"/>
                <a:cs typeface="Tahoma"/>
              </a:rPr>
              <a:t>Other: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hiếm,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đa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phần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tử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vong.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5" dirty="0"/>
              <a:t>Xử</a:t>
            </a:r>
            <a:r>
              <a:rPr spc="-25" dirty="0"/>
              <a:t> </a:t>
            </a:r>
            <a:r>
              <a:rPr dirty="0"/>
              <a:t>lý</a:t>
            </a:r>
            <a:r>
              <a:rPr spc="-25" dirty="0"/>
              <a:t> </a:t>
            </a:r>
            <a:r>
              <a:rPr spc="-10" dirty="0"/>
              <a:t>giá</a:t>
            </a:r>
            <a:r>
              <a:rPr spc="-15" dirty="0"/>
              <a:t> </a:t>
            </a:r>
            <a:r>
              <a:rPr spc="50" dirty="0"/>
              <a:t>trị</a:t>
            </a:r>
            <a:r>
              <a:rPr spc="-15" dirty="0"/>
              <a:t> </a:t>
            </a:r>
            <a:r>
              <a:rPr dirty="0"/>
              <a:t>thiếu</a:t>
            </a:r>
            <a:r>
              <a:rPr spc="-15" dirty="0"/>
              <a:t> </a:t>
            </a:r>
            <a:r>
              <a:rPr spc="-10" dirty="0"/>
              <a:t>và </a:t>
            </a:r>
            <a:r>
              <a:rPr dirty="0"/>
              <a:t>Mã</a:t>
            </a:r>
            <a:r>
              <a:rPr spc="-15" dirty="0"/>
              <a:t> </a:t>
            </a:r>
            <a:r>
              <a:rPr spc="-40" dirty="0"/>
              <a:t>hoá</a:t>
            </a:r>
            <a:r>
              <a:rPr spc="-15" dirty="0"/>
              <a:t> </a:t>
            </a:r>
            <a:r>
              <a:rPr spc="-105" dirty="0"/>
              <a:t>dữ</a:t>
            </a:r>
            <a:r>
              <a:rPr spc="10" dirty="0"/>
              <a:t> </a:t>
            </a:r>
            <a:r>
              <a:rPr spc="-20" dirty="0"/>
              <a:t>liệu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133195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b="1" spc="-40" dirty="0">
                <a:latin typeface="Tahoma"/>
                <a:cs typeface="Tahoma"/>
              </a:rPr>
              <a:t>Age:</a:t>
            </a:r>
            <a:r>
              <a:rPr b="1" spc="-15" dirty="0">
                <a:latin typeface="Tahoma"/>
                <a:cs typeface="Tahoma"/>
              </a:rPr>
              <a:t> </a:t>
            </a:r>
            <a:r>
              <a:rPr spc="-40" dirty="0"/>
              <a:t>điền</a:t>
            </a:r>
            <a:r>
              <a:rPr spc="-30" dirty="0"/>
              <a:t> </a:t>
            </a:r>
            <a:r>
              <a:rPr spc="-35" dirty="0"/>
              <a:t>bằng</a:t>
            </a:r>
            <a:r>
              <a:rPr spc="-30" dirty="0"/>
              <a:t> </a:t>
            </a:r>
            <a:r>
              <a:rPr dirty="0"/>
              <a:t>giá</a:t>
            </a:r>
            <a:r>
              <a:rPr spc="-35" dirty="0"/>
              <a:t> </a:t>
            </a:r>
            <a:r>
              <a:rPr dirty="0"/>
              <a:t>trị</a:t>
            </a:r>
            <a:r>
              <a:rPr spc="-30" dirty="0"/>
              <a:t> </a:t>
            </a:r>
            <a:r>
              <a:rPr spc="-20" dirty="0"/>
              <a:t>trung</a:t>
            </a:r>
            <a:r>
              <a:rPr spc="-30" dirty="0"/>
              <a:t> </a:t>
            </a:r>
            <a:r>
              <a:rPr spc="-20" dirty="0"/>
              <a:t>bình.</a:t>
            </a: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b="1" spc="-70" dirty="0">
                <a:latin typeface="Tahoma"/>
                <a:cs typeface="Tahoma"/>
              </a:rPr>
              <a:t>Embarked:</a:t>
            </a:r>
            <a:r>
              <a:rPr b="1" spc="-5" dirty="0">
                <a:latin typeface="Tahoma"/>
                <a:cs typeface="Tahoma"/>
              </a:rPr>
              <a:t> </a:t>
            </a:r>
            <a:r>
              <a:rPr spc="-20" dirty="0"/>
              <a:t>thay</a:t>
            </a:r>
            <a:r>
              <a:rPr spc="-40" dirty="0"/>
              <a:t> </a:t>
            </a:r>
            <a:r>
              <a:rPr spc="-35" dirty="0"/>
              <a:t>bằng </a:t>
            </a:r>
            <a:r>
              <a:rPr dirty="0"/>
              <a:t>giá</a:t>
            </a:r>
            <a:r>
              <a:rPr spc="-30" dirty="0"/>
              <a:t> </a:t>
            </a:r>
            <a:r>
              <a:rPr dirty="0"/>
              <a:t>trị</a:t>
            </a:r>
            <a:r>
              <a:rPr spc="-35" dirty="0"/>
              <a:t> </a:t>
            </a:r>
            <a:r>
              <a:rPr spc="-10" dirty="0"/>
              <a:t>xuất</a:t>
            </a:r>
            <a:r>
              <a:rPr spc="-30" dirty="0"/>
              <a:t> </a:t>
            </a:r>
            <a:r>
              <a:rPr spc="-35" dirty="0"/>
              <a:t>hiện nhiều</a:t>
            </a:r>
            <a:r>
              <a:rPr spc="-30" dirty="0"/>
              <a:t> </a:t>
            </a:r>
            <a:r>
              <a:rPr spc="-10" dirty="0"/>
              <a:t>nhất.</a:t>
            </a: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b="1" spc="-45" dirty="0">
                <a:latin typeface="Tahoma"/>
                <a:cs typeface="Tahoma"/>
              </a:rPr>
              <a:t>Cabin:</a:t>
            </a:r>
            <a:r>
              <a:rPr b="1" spc="-30" dirty="0">
                <a:latin typeface="Tahoma"/>
                <a:cs typeface="Tahoma"/>
              </a:rPr>
              <a:t> </a:t>
            </a:r>
            <a:r>
              <a:rPr spc="-25" dirty="0"/>
              <a:t>xoá</a:t>
            </a:r>
            <a:r>
              <a:rPr spc="-50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spc="-20" dirty="0"/>
              <a:t>thiếu</a:t>
            </a:r>
            <a:r>
              <a:rPr spc="-45" dirty="0"/>
              <a:t> </a:t>
            </a:r>
            <a:r>
              <a:rPr spc="-20" dirty="0"/>
              <a:t>quá</a:t>
            </a:r>
            <a:r>
              <a:rPr spc="-50" dirty="0"/>
              <a:t> </a:t>
            </a:r>
            <a:r>
              <a:rPr spc="-10" dirty="0"/>
              <a:t>nhiều.</a:t>
            </a:r>
          </a:p>
          <a:p>
            <a:pPr marL="12700" marR="490220">
              <a:lnSpc>
                <a:spcPct val="100000"/>
              </a:lnSpc>
              <a:spcBef>
                <a:spcPts val="590"/>
              </a:spcBef>
            </a:pPr>
            <a:r>
              <a:rPr b="1" dirty="0">
                <a:latin typeface="Tahoma"/>
                <a:cs typeface="Tahoma"/>
              </a:rPr>
              <a:t>Mã</a:t>
            </a:r>
            <a:r>
              <a:rPr b="1" spc="25" dirty="0">
                <a:latin typeface="Tahoma"/>
                <a:cs typeface="Tahoma"/>
              </a:rPr>
              <a:t> </a:t>
            </a:r>
            <a:r>
              <a:rPr b="1" spc="-50" dirty="0">
                <a:latin typeface="Tahoma"/>
                <a:cs typeface="Tahoma"/>
              </a:rPr>
              <a:t>hoá</a:t>
            </a:r>
            <a:r>
              <a:rPr b="1" spc="30" dirty="0">
                <a:latin typeface="Tahoma"/>
                <a:cs typeface="Tahoma"/>
              </a:rPr>
              <a:t> </a:t>
            </a:r>
            <a:r>
              <a:rPr b="1" spc="-70" dirty="0">
                <a:latin typeface="Tahoma"/>
                <a:cs typeface="Tahoma"/>
              </a:rPr>
              <a:t>danh</a:t>
            </a:r>
            <a:r>
              <a:rPr b="1" spc="25" dirty="0">
                <a:latin typeface="Tahoma"/>
                <a:cs typeface="Tahoma"/>
              </a:rPr>
              <a:t> </a:t>
            </a:r>
            <a:r>
              <a:rPr b="1" spc="-60" dirty="0">
                <a:latin typeface="Tahoma"/>
                <a:cs typeface="Tahoma"/>
              </a:rPr>
              <a:t>mục:</a:t>
            </a:r>
            <a:r>
              <a:rPr b="1" dirty="0">
                <a:latin typeface="Tahoma"/>
                <a:cs typeface="Tahoma"/>
              </a:rPr>
              <a:t> </a:t>
            </a:r>
            <a:r>
              <a:rPr spc="-45" dirty="0"/>
              <a:t>dùng</a:t>
            </a:r>
            <a:r>
              <a:rPr spc="-25" dirty="0"/>
              <a:t> LabelEncoder </a:t>
            </a:r>
            <a:r>
              <a:rPr spc="-10" dirty="0"/>
              <a:t>cho</a:t>
            </a:r>
            <a:r>
              <a:rPr spc="-20" dirty="0"/>
              <a:t> </a:t>
            </a:r>
            <a:r>
              <a:rPr i="1" spc="-55" dirty="0">
                <a:latin typeface="Arial"/>
                <a:cs typeface="Arial"/>
              </a:rPr>
              <a:t>Sex,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Embarked,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Title, Family_cate</a:t>
            </a:r>
            <a:r>
              <a:rPr spc="-10" dirty="0"/>
              <a:t>.</a:t>
            </a:r>
          </a:p>
          <a:p>
            <a:pPr marL="12700" marR="5080">
              <a:lnSpc>
                <a:spcPct val="100000"/>
              </a:lnSpc>
              <a:spcBef>
                <a:spcPts val="590"/>
              </a:spcBef>
            </a:pPr>
            <a:r>
              <a:rPr spc="-25" dirty="0"/>
              <a:t>Sau</a:t>
            </a:r>
            <a:r>
              <a:rPr spc="-40" dirty="0"/>
              <a:t> </a:t>
            </a:r>
            <a:r>
              <a:rPr spc="-30" dirty="0"/>
              <a:t>mã</a:t>
            </a:r>
            <a:r>
              <a:rPr spc="-25" dirty="0"/>
              <a:t> </a:t>
            </a:r>
            <a:r>
              <a:rPr spc="-55" dirty="0"/>
              <a:t>hoá:</a:t>
            </a:r>
            <a:r>
              <a:rPr spc="-20" dirty="0"/>
              <a:t> </a:t>
            </a:r>
            <a:r>
              <a:rPr i="1" spc="-100" dirty="0">
                <a:latin typeface="Arial"/>
                <a:cs typeface="Arial"/>
              </a:rPr>
              <a:t>Sex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0" dirty="0">
                <a:latin typeface="Arial"/>
                <a:cs typeface="Arial"/>
              </a:rPr>
              <a:t>[female,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45" dirty="0">
                <a:latin typeface="Arial"/>
                <a:cs typeface="Arial"/>
              </a:rPr>
              <a:t>male]</a:t>
            </a:r>
            <a:r>
              <a:rPr spc="-45" dirty="0"/>
              <a:t>,</a:t>
            </a:r>
            <a:r>
              <a:rPr spc="-25" dirty="0"/>
              <a:t> </a:t>
            </a:r>
            <a:r>
              <a:rPr i="1" spc="-55" dirty="0">
                <a:latin typeface="Arial"/>
                <a:cs typeface="Arial"/>
              </a:rPr>
              <a:t>Embarked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[C,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Q,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35" dirty="0">
                <a:latin typeface="Arial"/>
                <a:cs typeface="Arial"/>
              </a:rPr>
              <a:t>S]</a:t>
            </a:r>
            <a:r>
              <a:rPr spc="-35" dirty="0"/>
              <a:t>,</a:t>
            </a:r>
            <a:r>
              <a:rPr spc="-20" dirty="0"/>
              <a:t> </a:t>
            </a:r>
            <a:r>
              <a:rPr i="1" dirty="0">
                <a:latin typeface="Arial"/>
                <a:cs typeface="Arial"/>
              </a:rPr>
              <a:t>Title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dirty="0">
                <a:latin typeface="Arial"/>
                <a:cs typeface="Arial"/>
              </a:rPr>
              <a:t>→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[Master, </a:t>
            </a:r>
            <a:r>
              <a:rPr i="1" spc="-25" dirty="0">
                <a:latin typeface="Arial"/>
                <a:cs typeface="Arial"/>
              </a:rPr>
              <a:t>Miss,</a:t>
            </a:r>
            <a:r>
              <a:rPr i="1" dirty="0">
                <a:latin typeface="Arial"/>
                <a:cs typeface="Arial"/>
              </a:rPr>
              <a:t> Mr, Mrs, </a:t>
            </a:r>
            <a:r>
              <a:rPr i="1" spc="-10" dirty="0">
                <a:latin typeface="Arial"/>
                <a:cs typeface="Arial"/>
              </a:rPr>
              <a:t>Other]</a:t>
            </a:r>
            <a:r>
              <a:rPr spc="-10" dirty="0"/>
              <a:t>,</a:t>
            </a:r>
            <a:r>
              <a:rPr spc="-35" dirty="0"/>
              <a:t> </a:t>
            </a:r>
            <a:r>
              <a:rPr i="1" spc="-20" dirty="0">
                <a:latin typeface="Arial"/>
                <a:cs typeface="Arial"/>
              </a:rPr>
              <a:t>Family_cate</a:t>
            </a:r>
            <a:r>
              <a:rPr i="1" dirty="0">
                <a:latin typeface="Arial"/>
                <a:cs typeface="Arial"/>
              </a:rPr>
              <a:t> → </a:t>
            </a:r>
            <a:r>
              <a:rPr i="1" spc="-20" dirty="0">
                <a:latin typeface="Arial"/>
                <a:cs typeface="Arial"/>
              </a:rPr>
              <a:t>[Alone,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Small,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20" dirty="0">
                <a:latin typeface="Arial"/>
                <a:cs typeface="Arial"/>
              </a:rPr>
              <a:t>Medium,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Large]</a:t>
            </a:r>
            <a:r>
              <a:rPr spc="-10" dirty="0"/>
              <a:t>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60944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588693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816430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196007"/>
            <a:ext cx="65201" cy="652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004"/>
            <a:ext cx="13811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Chuẩn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hóa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dữ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liệu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7083" y="1100680"/>
          <a:ext cx="2548253" cy="1043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5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75565">
                        <a:lnSpc>
                          <a:spcPts val="1220"/>
                        </a:lnSpc>
                      </a:pPr>
                      <a:r>
                        <a:rPr sz="1100" b="1" spc="-20" dirty="0">
                          <a:latin typeface="Tahoma"/>
                          <a:cs typeface="Tahoma"/>
                        </a:rPr>
                        <a:t>Biến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b="1" spc="-35" dirty="0">
                          <a:latin typeface="Tahoma"/>
                          <a:cs typeface="Tahoma"/>
                        </a:rPr>
                        <a:t>Phạm</a:t>
                      </a:r>
                      <a:r>
                        <a:rPr sz="11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10" dirty="0">
                          <a:latin typeface="Tahoma"/>
                          <a:cs typeface="Tahoma"/>
                        </a:rPr>
                        <a:t>vi</a:t>
                      </a:r>
                      <a:r>
                        <a:rPr sz="11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25" dirty="0">
                          <a:latin typeface="Tahoma"/>
                          <a:cs typeface="Tahoma"/>
                        </a:rPr>
                        <a:t>gốc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</a:pPr>
                      <a:r>
                        <a:rPr sz="1100" b="1" spc="-50" dirty="0">
                          <a:latin typeface="Tahoma"/>
                          <a:cs typeface="Tahoma"/>
                        </a:rPr>
                        <a:t>Chuẩn</a:t>
                      </a:r>
                      <a:r>
                        <a:rPr sz="1100" b="1" spc="-25" dirty="0">
                          <a:latin typeface="Tahoma"/>
                          <a:cs typeface="Tahoma"/>
                        </a:rPr>
                        <a:t> hóa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marL="75565">
                        <a:lnSpc>
                          <a:spcPts val="1085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Age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1085"/>
                        </a:lnSpc>
                      </a:pPr>
                      <a:r>
                        <a:rPr sz="1100" spc="-45" dirty="0">
                          <a:latin typeface="Tahoma"/>
                          <a:cs typeface="Tahoma"/>
                        </a:rPr>
                        <a:t>0.42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5"/>
                        </a:lnSpc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[0,1]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Fare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512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[0,1]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Parch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[0,1]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SibSp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15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[0,1]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FamilySize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11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[0,1]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67027" y="2185560"/>
            <a:ext cx="1874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Scale,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min,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max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được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tính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tự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động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611" y="1236648"/>
            <a:ext cx="365887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Tahoma"/>
                <a:cs typeface="Tahoma"/>
              </a:rPr>
              <a:t>Cảm</a:t>
            </a:r>
            <a:r>
              <a:rPr sz="2450" b="1" spc="-1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450" b="1" spc="-35" dirty="0">
                <a:solidFill>
                  <a:srgbClr val="000000"/>
                </a:solidFill>
                <a:latin typeface="Tahoma"/>
                <a:cs typeface="Tahoma"/>
              </a:rPr>
              <a:t>ơn</a:t>
            </a:r>
            <a:r>
              <a:rPr sz="2450" b="1" spc="-9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450" b="1" spc="-95" dirty="0">
                <a:solidFill>
                  <a:srgbClr val="000000"/>
                </a:solidFill>
                <a:latin typeface="Tahoma"/>
                <a:cs typeface="Tahoma"/>
              </a:rPr>
              <a:t>thầy</a:t>
            </a:r>
            <a:r>
              <a:rPr sz="2450" b="1" spc="-8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450" b="1" spc="-20" dirty="0">
                <a:solidFill>
                  <a:srgbClr val="000000"/>
                </a:solidFill>
                <a:latin typeface="Tahoma"/>
                <a:cs typeface="Tahoma"/>
              </a:rPr>
              <a:t>và</a:t>
            </a:r>
            <a:r>
              <a:rPr sz="2450" b="1" spc="-9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450" b="1" spc="-10" dirty="0">
                <a:solidFill>
                  <a:srgbClr val="000000"/>
                </a:solidFill>
                <a:latin typeface="Tahoma"/>
                <a:cs typeface="Tahoma"/>
              </a:rPr>
              <a:t>các</a:t>
            </a:r>
            <a:r>
              <a:rPr sz="2450" b="1" spc="-9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450" b="1" spc="-65" dirty="0">
                <a:solidFill>
                  <a:srgbClr val="000000"/>
                </a:solidFill>
                <a:latin typeface="Tahoma"/>
                <a:cs typeface="Tahoma"/>
              </a:rPr>
              <a:t>bạn!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B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1085</Words>
  <Application>Microsoft Office PowerPoint</Application>
  <PresentationFormat>Custom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Cambria</vt:lpstr>
      <vt:lpstr>Palatino Linotype</vt:lpstr>
      <vt:lpstr>Tahoma</vt:lpstr>
      <vt:lpstr>Times New Roman</vt:lpstr>
      <vt:lpstr>Office Theme</vt:lpstr>
      <vt:lpstr>PowerPoint Presentation</vt:lpstr>
      <vt:lpstr>Presentation Overview</vt:lpstr>
      <vt:lpstr>Định nghĩa vấn đề</vt:lpstr>
      <vt:lpstr>Đặc trưng đầu vào và đầu ra</vt:lpstr>
      <vt:lpstr>Tổng quan và tính toàn vẹn dữ liệu</vt:lpstr>
      <vt:lpstr>Thống kê mô tả và Phân bố biến phân lớp (Survived)</vt:lpstr>
      <vt:lpstr>Đơn biến (Univariate Plots)</vt:lpstr>
      <vt:lpstr>Box and Whisker Plots</vt:lpstr>
      <vt:lpstr>Histogram (Sex vs Survived)</vt:lpstr>
      <vt:lpstr>Phân tích theo hạng vé (Pclass)</vt:lpstr>
      <vt:lpstr>Phân tích đa biến (Multivariate Analysis)</vt:lpstr>
      <vt:lpstr>Ma trận tương quan</vt:lpstr>
      <vt:lpstr>Phân bố sống sót</vt:lpstr>
      <vt:lpstr>Tạo đặc trưng mới (Feature Engineering)</vt:lpstr>
      <vt:lpstr>Xử lý giá trị thiếu và Mã hoá dữ liệu</vt:lpstr>
      <vt:lpstr>PowerPoint Presentation</vt:lpstr>
      <vt:lpstr>Cảm ơn thầy và các bạn!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KẾT QUẢ BÀI TẬP - Phân loại người sống sót trên tàu Titanic</dc:title>
  <dc:creator>Giảng viên hướng dẫn: TS. Đỗ Như Tài [0.8em] Sinh viên thực hiện:[0.3em] Trần Đình Hải  Huỳnh Nhật Minh  Lê Thành Nhân  Trần Công Minh </dc:creator>
  <cp:lastModifiedBy>Huỳnh Nhật Minh</cp:lastModifiedBy>
  <cp:revision>1</cp:revision>
  <dcterms:created xsi:type="dcterms:W3CDTF">2025-10-26T07:40:51Z</dcterms:created>
  <dcterms:modified xsi:type="dcterms:W3CDTF">2025-10-26T07:45:08Z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2025-10-26T00:00:00Z</vt:filetime>
  </property>
  <property fmtid="{D5CDD505-2E9C-101B-9397-08002B2CF9AE}" pid="5" name="Producer">
    <vt:lpwstr>3-Heights(TM) PDF Security Shell 4.8.25.2 (http://www.pdf-tools.com)</vt:lpwstr>
  </property>
</Properties>
</file>